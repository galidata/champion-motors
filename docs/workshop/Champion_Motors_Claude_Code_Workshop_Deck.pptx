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7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988" autoAdjust="0"/>
  </p:normalViewPr>
  <p:slideViewPr>
    <p:cSldViewPr snapToGrid="0" snapToObjects="1">
      <p:cViewPr varScale="1">
        <p:scale>
          <a:sx n="94" d="100"/>
          <a:sy n="94" d="100"/>
        </p:scale>
        <p:origin x="111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5165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and introduce the day's arc: Hour 1 immersion, Hour 2 live build, Hour 3 hands-on. Confirm everyone completed the pre-workshop install checklist (Claude Code, Node, Git, VS Code, AWS CLI)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up front: by the end of today there will be a live Amplify URL with features the room built themselves. Briefly explain why each hour matters: Hour 1 gives shared vocabulary, Hour 2 shows the whole loop once end-to-end, Hour 3 is where people practice on their own feature.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B085F-7E6E-917F-E52F-C96567B3B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4D829-B190-E6C7-7A68-C0CBE8ED6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954A6-D3F8-C1C1-5C5F-FF51629212A3}"/>
              </a:ext>
            </a:extLst>
          </p:cNvPr>
          <p:cNvSpPr>
            <a:spLocks noGrp="1"/>
          </p:cNvSpPr>
          <p:nvPr>
            <p:ph type="body" idx="1"/>
          </p:nvPr>
        </p:nvSpPr>
        <p:spPr/>
        <p:txBody>
          <a:bodyPr/>
          <a:lstStyle/>
          <a:p>
            <a:r>
              <a:rPr lang="en-US" dirty="0"/>
              <a:t>Set expectations up front: by the end of today there will be a live Amplify URL with features the room built themselves. Briefly explain why each hour matters: Hour 1 gives shared vocabulary, Hour 2 shows the whole loop once end-to-end, Hour 3 is where people practice on their own feature.</a:t>
            </a:r>
          </a:p>
        </p:txBody>
      </p:sp>
      <p:sp>
        <p:nvSpPr>
          <p:cNvPr id="4" name="Slide Number Placeholder 3">
            <a:extLst>
              <a:ext uri="{FF2B5EF4-FFF2-40B4-BE49-F238E27FC236}">
                <a16:creationId xmlns:a16="http://schemas.microsoft.com/office/drawing/2014/main" id="{15747211-2338-8BD7-1719-D0B8D0E6D588}"/>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79224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“Let's start with the building blocks you'll use all day.” Keep this segment conversational — no coding yet.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a terminal in an existing project and just type `claude` to show it starting. Point out the prompt is plain language, not special syntax, and that it edits real files in the repo — open the file in VS Code side-by-side so the room sees the diff land live.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`claude`, then type /init. Claude scans the repo and writes a starter CLAUDE.md at the project root — open it in VS Code and walk through what it inferred automatically (stack, commands, structure). Then hand-edit it to add a Rules section, e.g.:
## Rules
- Always use TypeScript
- Never commit directly to main
- Prefer functional components
Emphasize CLAUDE.md is just a markdown file committed to the repo — anyone can edit it, and Claude re-reads it at the start of every session.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INSTALL 'SUPERPOWERS' (community skill library by Jesse Vincent / Prime Radiant — not built by Anthropic, but listed on Anthropic's official plugin marketplace too):
• Official marketplace: /plugin install superpowers@claude-plugins-official
• Author's marketplace (gets updates first): /plugin marketplace add obra/superpowers-marketplace, then /plugin install superpowers@superpowers-marketplace
Restart Claude Code after installing. Verify it by asking Claude to build a small feature and watching the brainstorming/planning skill trigger automatically.
HOW TO CREATE THE BRAND GUIDELINE SKILL (custom, project-specific):
1. mkdir -p .claude/skills/brand-guidelines
2. Create SKILL.md there with YAML frontmatter (name + description) and a body listing Champion Motors' colors (hex codes), fonts, logo usage rules, tone of voice, and a few do/don't examples.
3. Easiest path: ask Claude itself — “Help me build a skill using skill-creator” — it interviews you, scaffolds the SKILL.md, and can review/validate it afterward.
4. Commit the skill folder to the repo so every engineer's Claude Code picks it up automatically.
ALSO RECOMMEND: Anthropic's own official 'frontend-design' skill — pushes Claude toward distinctive, production-grade UI instead of generic 'AI slop' interfaces. Install with /plugin marketplace add anthropics/claude-code, then install 'frontend-design' from the list (or curl its SKILL.md directly into .claude/skills/frontend-design/). Pairs well with the brand guideline skill: frontend-design handles general design quality, brand-guidelines handles Champion Motors specifics.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.claude/commands/goal.md as just a markdown file containing the prompt Claude runs on /goal, e.g. “State the objective of this session in one sentence and keep checking new work against it.” Same pattern for advisor.md and loop.md. Note /model is built-in — typing /model mid-session lets you swap to a stronger model (e.g. Opus) for a hard problem, then switch back for routine 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from talking to doing. Let the room know this hour is fully facilitator-led — they should watch, not code yet.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each box as you actually do it live — describe the feature, scaffold with Vite, prompt Claude to build it, run the Vitest suite locally, git push, watch the Azure DevOps pipeline run the same tests, then connect/deploy on Amplify. This slide is the spine of Hour 2; keep an eye on the clock.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on each bullet as you execute it live. Slow down especially on the CLAUDE.md + brand-guideline-skill step, and again on the testing step, so the room sees Hour 1's concepts and the test suite actually in use, not just described.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install command live, add the test script to package.json, then run npm test once with zero tests to show the runner working. This sets up the next slide, where we add 5 real tests. Emphasize this runs in seconds — much faster than manually clicking through the app in the browser.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or paste this file live into src/Button.test.jsx, then run npm test and watch all 5 pass. Point out the pattern: a shared setup() helper keeps each test to one behavior — render, an interaction, or a prop — which is why 5 short tests read faster than one long one. This is deliberately simple; the goal is showing the shape of a test, not exhaustive coverage.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file lives at the repo root. Commit it and push — Azure DevOps picks it up automatically and runs it on the next push to main (or configure it as a PR build validation policy under Repos → Branch Policies for stronger enforcement). Show the pipeline run in the Azure DevOps UI going green after the earlier commit. If a test fails here but passed locally, it's almost always a Node version mismatch — check versionSpec against your local node --version.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off to the room — reassure people this is where they get hands-on themselves.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room through the feature backlog before anyone picks. Stay circulating during steps 2–4 to unblock credential or PATH issues quickly — those are the most common holdups.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everyone finished the pre-work email, this can be a fast recap. If not, budget real time here — Windows PATH issues are the single biggest time sink in sessions like this.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engineers run these one at a time in PowerShell, not cmd.exe. After each winget install — especially Node and Git — they must fully close and reopen PowerShell before continuing, since winget doesn't refresh PATH in the same session. WSL2 is optional; skip it unless someone's repo needs bash-only scripts.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 configure prompts for four values in order: Access Key ID, Secret Access Key, region, output format. Have each engineer use their own IAM credentials if you provisioned them individually, not a shared admin key. Run the verify block together — if claude --version fails, it's almost always a PATH issue, not a broken install.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visible on a second monitor or shared screen during Hour 3 as a cheat-sheet while engineers work.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issues most likely to come up based on similar sessions. Read them aloud if the room is heads-down and not looking at the slide — the fixes are already written out here.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what the room shipped today, including that their features passed automated tests in the pipeline before deploying. Encourage the team to keep CLAUDE.md, the skills folder, the custom slash commands, and the test suite as living assets — assign an owner to maintain them after the workshop.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www.linkedin.com/in/galvekselman" TargetMode="External"/><Relationship Id="rId5" Type="http://schemas.openxmlformats.org/officeDocument/2006/relationships/hyperlink" Target="https://main.d10yr4rzojipa2.amplifyapp.com/" TargetMode="External"/><Relationship Id="rId4" Type="http://schemas.openxmlformats.org/officeDocument/2006/relationships/hyperlink" Target="https://github.com/galiData/champion-motors.gi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C49"/>
          </a:solidFill>
          <a:ln w="12700">
            <a:solidFill>
              <a:srgbClr val="161C49"/>
            </a:solidFill>
            <a:prstDash val="solid"/>
          </a:ln>
        </p:spPr>
        <p:txBody>
          <a:bodyPr/>
          <a:lstStyle/>
          <a:p>
            <a:endParaRPr lang="en-US"/>
          </a:p>
        </p:txBody>
      </p:sp>
      <p:sp>
        <p:nvSpPr>
          <p:cNvPr id="3" name="Shape 1"/>
          <p:cNvSpPr/>
          <p:nvPr/>
        </p:nvSpPr>
        <p:spPr>
          <a:xfrm>
            <a:off x="9326880" y="-1463040"/>
            <a:ext cx="5029200" cy="5029200"/>
          </a:xfrm>
          <a:prstGeom prst="ellipse">
            <a:avLst/>
          </a:prstGeom>
          <a:solidFill>
            <a:srgbClr val="1E2761"/>
          </a:solidFill>
          <a:ln w="12700">
            <a:solidFill>
              <a:srgbClr val="1E2761"/>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9966960" y="502920"/>
            <a:ext cx="1463040" cy="1463040"/>
          </a:xfrm>
          <a:prstGeom prst="rect">
            <a:avLst/>
          </a:prstGeom>
        </p:spPr>
      </p:pic>
      <p:sp>
        <p:nvSpPr>
          <p:cNvPr id="5" name="Text 2"/>
          <p:cNvSpPr/>
          <p:nvPr/>
        </p:nvSpPr>
        <p:spPr>
          <a:xfrm>
            <a:off x="548640" y="2468880"/>
            <a:ext cx="96012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CLAUDE CODE WORKSHOP</a:t>
            </a:r>
            <a:endParaRPr lang="en-US" sz="4400" dirty="0"/>
          </a:p>
        </p:txBody>
      </p:sp>
      <p:sp>
        <p:nvSpPr>
          <p:cNvPr id="6" name="Text 3"/>
          <p:cNvSpPr/>
          <p:nvPr/>
        </p:nvSpPr>
        <p:spPr>
          <a:xfrm>
            <a:off x="548640" y="3429000"/>
            <a:ext cx="8229600" cy="457200"/>
          </a:xfrm>
          <a:prstGeom prst="rect">
            <a:avLst/>
          </a:prstGeom>
          <a:noFill/>
          <a:ln/>
        </p:spPr>
        <p:txBody>
          <a:bodyPr wrap="square" rtlCol="0" anchor="ctr"/>
          <a:lstStyle/>
          <a:p>
            <a:pPr marL="0" indent="0">
              <a:buNone/>
            </a:pPr>
            <a:r>
              <a:rPr lang="en-US" sz="1800" i="1" dirty="0">
                <a:solidFill>
                  <a:srgbClr val="CADCFC"/>
                </a:solidFill>
                <a:latin typeface="Calibri" pitchFamily="34" charset="0"/>
                <a:ea typeface="Calibri" pitchFamily="34" charset="-122"/>
                <a:cs typeface="Calibri" pitchFamily="34" charset="-120"/>
              </a:rPr>
              <a:t>A hands-on introduction to agentic development</a:t>
            </a:r>
            <a:endParaRPr lang="en-US" sz="1800" dirty="0"/>
          </a:p>
        </p:txBody>
      </p:sp>
      <p:sp>
        <p:nvSpPr>
          <p:cNvPr id="7" name="Shape 4"/>
          <p:cNvSpPr/>
          <p:nvPr/>
        </p:nvSpPr>
        <p:spPr>
          <a:xfrm>
            <a:off x="548640" y="4114800"/>
            <a:ext cx="2377440" cy="502920"/>
          </a:xfrm>
          <a:prstGeom prst="rect">
            <a:avLst/>
          </a:prstGeom>
          <a:solidFill>
            <a:srgbClr val="00C9A7"/>
          </a:solidFill>
          <a:ln w="12700">
            <a:solidFill>
              <a:srgbClr val="00C9A7"/>
            </a:solidFill>
            <a:prstDash val="solid"/>
          </a:ln>
        </p:spPr>
        <p:txBody>
          <a:bodyPr/>
          <a:lstStyle/>
          <a:p>
            <a:endParaRPr lang="en-US"/>
          </a:p>
        </p:txBody>
      </p:sp>
      <p:sp>
        <p:nvSpPr>
          <p:cNvPr id="8" name="Text 5"/>
          <p:cNvSpPr/>
          <p:nvPr/>
        </p:nvSpPr>
        <p:spPr>
          <a:xfrm>
            <a:off x="548640" y="4114800"/>
            <a:ext cx="2377440" cy="502920"/>
          </a:xfrm>
          <a:prstGeom prst="rect">
            <a:avLst/>
          </a:prstGeom>
          <a:noFill/>
          <a:ln/>
        </p:spPr>
        <p:txBody>
          <a:bodyPr wrap="square" rtlCol="0" anchor="ctr"/>
          <a:lstStyle/>
          <a:p>
            <a:pPr marL="0" indent="0" algn="ctr">
              <a:buNone/>
            </a:pPr>
            <a:r>
              <a:rPr lang="en-US" sz="1500" b="1" dirty="0">
                <a:solidFill>
                  <a:srgbClr val="161C49"/>
                </a:solidFill>
                <a:latin typeface="Calibri" pitchFamily="34" charset="0"/>
                <a:ea typeface="Calibri" pitchFamily="34" charset="-122"/>
                <a:cs typeface="Calibri" pitchFamily="34" charset="-120"/>
              </a:rPr>
              <a:t>CHAMPION MOTORS</a:t>
            </a:r>
            <a:endParaRPr lang="en-US" sz="1500" dirty="0"/>
          </a:p>
        </p:txBody>
      </p:sp>
      <p:sp>
        <p:nvSpPr>
          <p:cNvPr id="9" name="Text 6"/>
          <p:cNvSpPr/>
          <p:nvPr/>
        </p:nvSpPr>
        <p:spPr>
          <a:xfrm>
            <a:off x="548640" y="4800600"/>
            <a:ext cx="731520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3-Hour Session  •  Planning → Vibe Coding → Git → Deploy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Workshop Goal &amp; Agenda</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417320"/>
            <a:ext cx="11094415" cy="685800"/>
          </a:xfrm>
          <a:prstGeom prst="rect">
            <a:avLst/>
          </a:prstGeom>
          <a:noFill/>
          <a:ln/>
        </p:spPr>
        <p:txBody>
          <a:bodyPr wrap="square" rtlCol="0" anchor="ctr"/>
          <a:lstStyle/>
          <a:p>
            <a:pPr marL="0" indent="0">
              <a:buNone/>
            </a:pPr>
            <a:r>
              <a:rPr lang="en-US" sz="1500" i="1" dirty="0">
                <a:solidFill>
                  <a:srgbClr val="222834"/>
                </a:solidFill>
                <a:latin typeface="Calibri" pitchFamily="34" charset="0"/>
                <a:ea typeface="Calibri" pitchFamily="34" charset="-122"/>
                <a:cs typeface="Calibri" pitchFamily="34" charset="-120"/>
              </a:rPr>
              <a:t>Take engineers from zero to a live, deployed React web-app portal on AWS Amplify — built with Claude Code — while walking the full software development lifecycle.</a:t>
            </a:r>
            <a:endParaRPr lang="en-US" sz="1500" dirty="0"/>
          </a:p>
        </p:txBody>
      </p:sp>
      <p:sp>
        <p:nvSpPr>
          <p:cNvPr id="7" name="Shape 4"/>
          <p:cNvSpPr/>
          <p:nvPr/>
        </p:nvSpPr>
        <p:spPr>
          <a:xfrm>
            <a:off x="548640" y="2377440"/>
            <a:ext cx="3520440" cy="3383280"/>
          </a:xfrm>
          <a:prstGeom prst="roundRect">
            <a:avLst>
              <a:gd name="adj" fmla="val 1622"/>
            </a:avLst>
          </a:prstGeom>
          <a:solidFill>
            <a:srgbClr val="F4F7FC"/>
          </a:solidFill>
          <a:ln w="12700">
            <a:solidFill>
              <a:srgbClr val="E1E7F2"/>
            </a:solidFill>
            <a:prstDash val="solid"/>
          </a:ln>
        </p:spPr>
        <p:txBody>
          <a:bodyPr/>
          <a:lstStyle/>
          <a:p>
            <a:endParaRPr lang="en-US"/>
          </a:p>
        </p:txBody>
      </p:sp>
      <p:sp>
        <p:nvSpPr>
          <p:cNvPr id="8" name="Shape 5"/>
          <p:cNvSpPr/>
          <p:nvPr/>
        </p:nvSpPr>
        <p:spPr>
          <a:xfrm>
            <a:off x="822960" y="2651760"/>
            <a:ext cx="594360" cy="594360"/>
          </a:xfrm>
          <a:prstGeom prst="ellipse">
            <a:avLst/>
          </a:prstGeom>
          <a:solidFill>
            <a:srgbClr val="CADCFC"/>
          </a:solidFill>
          <a:ln w="12700">
            <a:solidFill>
              <a:srgbClr val="CADCFC"/>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965606" y="2794406"/>
            <a:ext cx="309067" cy="309067"/>
          </a:xfrm>
          <a:prstGeom prst="rect">
            <a:avLst/>
          </a:prstGeom>
        </p:spPr>
      </p:pic>
      <p:sp>
        <p:nvSpPr>
          <p:cNvPr id="10" name="Text 6"/>
          <p:cNvSpPr/>
          <p:nvPr/>
        </p:nvSpPr>
        <p:spPr>
          <a:xfrm>
            <a:off x="822960" y="3429000"/>
            <a:ext cx="2971800" cy="320040"/>
          </a:xfrm>
          <a:prstGeom prst="rect">
            <a:avLst/>
          </a:prstGeom>
          <a:noFill/>
          <a:ln/>
        </p:spPr>
        <p:txBody>
          <a:bodyPr wrap="square" rtlCol="0" anchor="ctr"/>
          <a:lstStyle/>
          <a:p>
            <a:pPr marL="0" indent="0">
              <a:buNone/>
            </a:pPr>
            <a:r>
              <a:rPr lang="en-US" sz="1300" b="1" kern="0" spc="100" dirty="0">
                <a:solidFill>
                  <a:srgbClr val="0F8C78"/>
                </a:solidFill>
                <a:latin typeface="Calibri" pitchFamily="34" charset="0"/>
                <a:ea typeface="Calibri" pitchFamily="34" charset="-122"/>
                <a:cs typeface="Calibri" pitchFamily="34" charset="-120"/>
              </a:rPr>
              <a:t>HOUR 1</a:t>
            </a:r>
            <a:endParaRPr lang="en-US" sz="1300" dirty="0"/>
          </a:p>
        </p:txBody>
      </p:sp>
      <p:sp>
        <p:nvSpPr>
          <p:cNvPr id="11" name="Text 7"/>
          <p:cNvSpPr/>
          <p:nvPr/>
        </p:nvSpPr>
        <p:spPr>
          <a:xfrm>
            <a:off x="822960" y="3749040"/>
            <a:ext cx="2971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Immersion</a:t>
            </a:r>
            <a:endParaRPr lang="en-US" sz="2200" dirty="0"/>
          </a:p>
        </p:txBody>
      </p:sp>
      <p:sp>
        <p:nvSpPr>
          <p:cNvPr id="12" name="Text 8"/>
          <p:cNvSpPr/>
          <p:nvPr/>
        </p:nvSpPr>
        <p:spPr>
          <a:xfrm>
            <a:off x="822960" y="4297680"/>
            <a:ext cx="2971800" cy="1280160"/>
          </a:xfrm>
          <a:prstGeom prst="rect">
            <a:avLst/>
          </a:prstGeom>
          <a:noFill/>
          <a:ln/>
        </p:spPr>
        <p:txBody>
          <a:bodyPr wrap="square" rtlCol="0" anchor="t"/>
          <a:lstStyle/>
          <a:p>
            <a:pPr marL="0" indent="0">
              <a:buNone/>
            </a:pPr>
            <a:r>
              <a:rPr lang="en-US" sz="1350" dirty="0">
                <a:solidFill>
                  <a:srgbClr val="222834"/>
                </a:solidFill>
                <a:latin typeface="Calibri" pitchFamily="34" charset="0"/>
                <a:ea typeface="Calibri" pitchFamily="34" charset="-122"/>
                <a:cs typeface="Calibri" pitchFamily="34" charset="-120"/>
              </a:rPr>
              <a:t>Are these models that smart?</a:t>
            </a:r>
            <a:endParaRPr lang="en-US" sz="1350" dirty="0"/>
          </a:p>
        </p:txBody>
      </p:sp>
      <p:sp>
        <p:nvSpPr>
          <p:cNvPr id="13" name="Shape 9"/>
          <p:cNvSpPr/>
          <p:nvPr/>
        </p:nvSpPr>
        <p:spPr>
          <a:xfrm>
            <a:off x="4389120" y="2377440"/>
            <a:ext cx="3520440" cy="3383280"/>
          </a:xfrm>
          <a:prstGeom prst="roundRect">
            <a:avLst>
              <a:gd name="adj" fmla="val 1622"/>
            </a:avLst>
          </a:prstGeom>
          <a:solidFill>
            <a:srgbClr val="F4F7FC"/>
          </a:solidFill>
          <a:ln w="12700">
            <a:solidFill>
              <a:srgbClr val="E1E7F2"/>
            </a:solidFill>
            <a:prstDash val="solid"/>
          </a:ln>
        </p:spPr>
        <p:txBody>
          <a:bodyPr/>
          <a:lstStyle/>
          <a:p>
            <a:endParaRPr lang="en-US"/>
          </a:p>
        </p:txBody>
      </p:sp>
      <p:sp>
        <p:nvSpPr>
          <p:cNvPr id="14" name="Shape 10"/>
          <p:cNvSpPr/>
          <p:nvPr/>
        </p:nvSpPr>
        <p:spPr>
          <a:xfrm>
            <a:off x="4663440" y="2651760"/>
            <a:ext cx="594360" cy="594360"/>
          </a:xfrm>
          <a:prstGeom prst="ellipse">
            <a:avLst/>
          </a:prstGeom>
          <a:solidFill>
            <a:srgbClr val="CADCFC"/>
          </a:solidFill>
          <a:ln w="12700">
            <a:solidFill>
              <a:srgbClr val="CADCFC"/>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806086" y="2794406"/>
            <a:ext cx="309067" cy="309067"/>
          </a:xfrm>
          <a:prstGeom prst="rect">
            <a:avLst/>
          </a:prstGeom>
        </p:spPr>
      </p:pic>
      <p:sp>
        <p:nvSpPr>
          <p:cNvPr id="16" name="Text 11"/>
          <p:cNvSpPr/>
          <p:nvPr/>
        </p:nvSpPr>
        <p:spPr>
          <a:xfrm>
            <a:off x="4663440" y="3429000"/>
            <a:ext cx="2971800" cy="320040"/>
          </a:xfrm>
          <a:prstGeom prst="rect">
            <a:avLst/>
          </a:prstGeom>
          <a:noFill/>
          <a:ln/>
        </p:spPr>
        <p:txBody>
          <a:bodyPr wrap="square" rtlCol="0" anchor="ctr"/>
          <a:lstStyle/>
          <a:p>
            <a:pPr marL="0" indent="0">
              <a:buNone/>
            </a:pPr>
            <a:r>
              <a:rPr lang="en-US" sz="1300" b="1" kern="0" spc="100" dirty="0">
                <a:solidFill>
                  <a:srgbClr val="0F8C78"/>
                </a:solidFill>
                <a:latin typeface="Calibri" pitchFamily="34" charset="0"/>
                <a:ea typeface="Calibri" pitchFamily="34" charset="-122"/>
                <a:cs typeface="Calibri" pitchFamily="34" charset="-120"/>
              </a:rPr>
              <a:t>HOUR 2</a:t>
            </a:r>
            <a:endParaRPr lang="en-US" sz="1300" dirty="0"/>
          </a:p>
        </p:txBody>
      </p:sp>
      <p:sp>
        <p:nvSpPr>
          <p:cNvPr id="17" name="Text 12"/>
          <p:cNvSpPr/>
          <p:nvPr/>
        </p:nvSpPr>
        <p:spPr>
          <a:xfrm>
            <a:off x="4663440" y="3749040"/>
            <a:ext cx="2971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Live Build</a:t>
            </a:r>
            <a:endParaRPr lang="en-US" sz="2200" dirty="0"/>
          </a:p>
        </p:txBody>
      </p:sp>
      <p:sp>
        <p:nvSpPr>
          <p:cNvPr id="18" name="Text 13"/>
          <p:cNvSpPr/>
          <p:nvPr/>
        </p:nvSpPr>
        <p:spPr>
          <a:xfrm>
            <a:off x="4663440" y="4297680"/>
            <a:ext cx="2971800" cy="1280160"/>
          </a:xfrm>
          <a:prstGeom prst="rect">
            <a:avLst/>
          </a:prstGeom>
          <a:noFill/>
          <a:ln/>
        </p:spPr>
        <p:txBody>
          <a:bodyPr wrap="square" rtlCol="0" anchor="t"/>
          <a:lstStyle/>
          <a:p>
            <a:pPr marL="0" indent="0">
              <a:buNone/>
            </a:pPr>
            <a:r>
              <a:rPr lang="en-US" sz="1350" dirty="0">
                <a:solidFill>
                  <a:srgbClr val="222834"/>
                </a:solidFill>
                <a:latin typeface="Calibri" pitchFamily="34" charset="0"/>
                <a:ea typeface="Calibri" pitchFamily="34" charset="-122"/>
                <a:cs typeface="Calibri" pitchFamily="34" charset="-120"/>
              </a:rPr>
              <a:t>plan → vibe code → push → deploy</a:t>
            </a:r>
            <a:endParaRPr lang="en-US" sz="1350" dirty="0"/>
          </a:p>
        </p:txBody>
      </p:sp>
      <p:sp>
        <p:nvSpPr>
          <p:cNvPr id="19" name="Shape 14"/>
          <p:cNvSpPr/>
          <p:nvPr/>
        </p:nvSpPr>
        <p:spPr>
          <a:xfrm>
            <a:off x="8229600" y="2377440"/>
            <a:ext cx="3520440" cy="3383280"/>
          </a:xfrm>
          <a:prstGeom prst="roundRect">
            <a:avLst>
              <a:gd name="adj" fmla="val 1622"/>
            </a:avLst>
          </a:prstGeom>
          <a:solidFill>
            <a:srgbClr val="F4F7FC"/>
          </a:solidFill>
          <a:ln w="12700">
            <a:solidFill>
              <a:srgbClr val="E1E7F2"/>
            </a:solidFill>
            <a:prstDash val="solid"/>
          </a:ln>
        </p:spPr>
        <p:txBody>
          <a:bodyPr/>
          <a:lstStyle/>
          <a:p>
            <a:endParaRPr lang="en-US"/>
          </a:p>
        </p:txBody>
      </p:sp>
      <p:sp>
        <p:nvSpPr>
          <p:cNvPr id="20" name="Shape 15"/>
          <p:cNvSpPr/>
          <p:nvPr/>
        </p:nvSpPr>
        <p:spPr>
          <a:xfrm>
            <a:off x="8503920" y="2651760"/>
            <a:ext cx="594360" cy="594360"/>
          </a:xfrm>
          <a:prstGeom prst="ellipse">
            <a:avLst/>
          </a:prstGeom>
          <a:solidFill>
            <a:srgbClr val="CADCFC"/>
          </a:solidFill>
          <a:ln w="12700">
            <a:solidFill>
              <a:srgbClr val="CADCFC"/>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8646566" y="2794406"/>
            <a:ext cx="309067" cy="309067"/>
          </a:xfrm>
          <a:prstGeom prst="rect">
            <a:avLst/>
          </a:prstGeom>
        </p:spPr>
      </p:pic>
      <p:sp>
        <p:nvSpPr>
          <p:cNvPr id="22" name="Text 16"/>
          <p:cNvSpPr/>
          <p:nvPr/>
        </p:nvSpPr>
        <p:spPr>
          <a:xfrm>
            <a:off x="8503920" y="3429000"/>
            <a:ext cx="2971800" cy="320040"/>
          </a:xfrm>
          <a:prstGeom prst="rect">
            <a:avLst/>
          </a:prstGeom>
          <a:noFill/>
          <a:ln/>
        </p:spPr>
        <p:txBody>
          <a:bodyPr wrap="square" rtlCol="0" anchor="ctr"/>
          <a:lstStyle/>
          <a:p>
            <a:pPr marL="0" indent="0">
              <a:buNone/>
            </a:pPr>
            <a:r>
              <a:rPr lang="en-US" sz="1300" b="1" kern="0" spc="100" dirty="0">
                <a:solidFill>
                  <a:srgbClr val="0F8C78"/>
                </a:solidFill>
                <a:latin typeface="Calibri" pitchFamily="34" charset="0"/>
                <a:ea typeface="Calibri" pitchFamily="34" charset="-122"/>
                <a:cs typeface="Calibri" pitchFamily="34" charset="-120"/>
              </a:rPr>
              <a:t>HOUR 3</a:t>
            </a:r>
            <a:endParaRPr lang="en-US" sz="1300" dirty="0"/>
          </a:p>
        </p:txBody>
      </p:sp>
      <p:sp>
        <p:nvSpPr>
          <p:cNvPr id="23" name="Text 17"/>
          <p:cNvSpPr/>
          <p:nvPr/>
        </p:nvSpPr>
        <p:spPr>
          <a:xfrm>
            <a:off x="8503920" y="3749040"/>
            <a:ext cx="2971800" cy="45720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Hands-On</a:t>
            </a:r>
            <a:endParaRPr lang="en-US" sz="2200" dirty="0"/>
          </a:p>
        </p:txBody>
      </p:sp>
      <p:sp>
        <p:nvSpPr>
          <p:cNvPr id="24" name="Text 18"/>
          <p:cNvSpPr/>
          <p:nvPr/>
        </p:nvSpPr>
        <p:spPr>
          <a:xfrm>
            <a:off x="8503920" y="4297680"/>
            <a:ext cx="2971800" cy="1280160"/>
          </a:xfrm>
          <a:prstGeom prst="rect">
            <a:avLst/>
          </a:prstGeom>
          <a:noFill/>
          <a:ln/>
        </p:spPr>
        <p:txBody>
          <a:bodyPr wrap="square" rtlCol="0" anchor="t"/>
          <a:lstStyle/>
          <a:p>
            <a:pPr marL="0" indent="0">
              <a:buNone/>
            </a:pPr>
            <a:r>
              <a:rPr lang="en-US" sz="1350" dirty="0">
                <a:solidFill>
                  <a:srgbClr val="222834"/>
                </a:solidFill>
                <a:latin typeface="Calibri" pitchFamily="34" charset="0"/>
                <a:ea typeface="Calibri" pitchFamily="34" charset="-122"/>
                <a:cs typeface="Calibri" pitchFamily="34" charset="-120"/>
              </a:rPr>
              <a:t>Let’s ship together</a:t>
            </a:r>
            <a:endParaRPr lang="en-US" sz="1350" dirty="0"/>
          </a:p>
        </p:txBody>
      </p:sp>
      <p:sp>
        <p:nvSpPr>
          <p:cNvPr id="25" name="Text 19"/>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26" name="Text 20"/>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16A02-2A8B-EBE0-9F75-958A75F02F1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2932AA7-D8D9-A808-6B85-E9540905B573}"/>
              </a:ext>
            </a:extLst>
          </p:cNvPr>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a:extLst>
              <a:ext uri="{FF2B5EF4-FFF2-40B4-BE49-F238E27FC236}">
                <a16:creationId xmlns:a16="http://schemas.microsoft.com/office/drawing/2014/main" id="{2C5376D9-17B5-8085-A8FA-BF03A98914A1}"/>
              </a:ext>
            </a:extLst>
          </p:cNvPr>
          <p:cNvPicPr>
            <a:picLocks noChangeAspect="1"/>
          </p:cNvPicPr>
          <p:nvPr/>
        </p:nvPicPr>
        <p:blipFill>
          <a:blip r:embed="rId3"/>
          <a:stretch>
            <a:fillRect/>
          </a:stretch>
        </p:blipFill>
        <p:spPr>
          <a:xfrm>
            <a:off x="706648" y="615208"/>
            <a:ext cx="342351" cy="342351"/>
          </a:xfrm>
          <a:prstGeom prst="rect">
            <a:avLst/>
          </a:prstGeom>
        </p:spPr>
      </p:pic>
      <p:sp>
        <p:nvSpPr>
          <p:cNvPr id="4" name="Text 1">
            <a:extLst>
              <a:ext uri="{FF2B5EF4-FFF2-40B4-BE49-F238E27FC236}">
                <a16:creationId xmlns:a16="http://schemas.microsoft.com/office/drawing/2014/main" id="{2E2288F4-2606-1FC0-CB81-FB702361CB98}"/>
              </a:ext>
            </a:extLst>
          </p:cNvPr>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Links</a:t>
            </a:r>
            <a:endParaRPr lang="en-US" sz="3000" dirty="0"/>
          </a:p>
        </p:txBody>
      </p:sp>
      <p:sp>
        <p:nvSpPr>
          <p:cNvPr id="5" name="Shape 2">
            <a:extLst>
              <a:ext uri="{FF2B5EF4-FFF2-40B4-BE49-F238E27FC236}">
                <a16:creationId xmlns:a16="http://schemas.microsoft.com/office/drawing/2014/main" id="{5B7946C2-CC3D-8BA2-CCE2-5ECA09E19798}"/>
              </a:ext>
            </a:extLst>
          </p:cNvPr>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25" name="Text 19">
            <a:extLst>
              <a:ext uri="{FF2B5EF4-FFF2-40B4-BE49-F238E27FC236}">
                <a16:creationId xmlns:a16="http://schemas.microsoft.com/office/drawing/2014/main" id="{9FB0AE1E-C0DD-77CB-8A10-173F586036F6}"/>
              </a:ext>
            </a:extLst>
          </p:cNvPr>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26" name="Text 20">
            <a:extLst>
              <a:ext uri="{FF2B5EF4-FFF2-40B4-BE49-F238E27FC236}">
                <a16:creationId xmlns:a16="http://schemas.microsoft.com/office/drawing/2014/main" id="{1EFBB800-B100-1F51-3436-47963D2F68E3}"/>
              </a:ext>
            </a:extLst>
          </p:cNvPr>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2</a:t>
            </a:r>
            <a:endParaRPr lang="en-US" sz="1000" dirty="0"/>
          </a:p>
        </p:txBody>
      </p:sp>
      <p:sp>
        <p:nvSpPr>
          <p:cNvPr id="28" name="TextBox 27">
            <a:extLst>
              <a:ext uri="{FF2B5EF4-FFF2-40B4-BE49-F238E27FC236}">
                <a16:creationId xmlns:a16="http://schemas.microsoft.com/office/drawing/2014/main" id="{12E6AD11-EF05-0941-0689-0F015D696526}"/>
              </a:ext>
            </a:extLst>
          </p:cNvPr>
          <p:cNvSpPr txBox="1"/>
          <p:nvPr/>
        </p:nvSpPr>
        <p:spPr>
          <a:xfrm>
            <a:off x="548640" y="1851469"/>
            <a:ext cx="6097772" cy="1200329"/>
          </a:xfrm>
          <a:prstGeom prst="rect">
            <a:avLst/>
          </a:prstGeom>
          <a:noFill/>
        </p:spPr>
        <p:txBody>
          <a:bodyPr wrap="square">
            <a:spAutoFit/>
          </a:bodyPr>
          <a:lstStyle/>
          <a:p>
            <a:r>
              <a:rPr lang="en-US" dirty="0"/>
              <a:t>Git Code: </a:t>
            </a:r>
            <a:r>
              <a:rPr lang="en-US" dirty="0">
                <a:hlinkClick r:id="rId4"/>
              </a:rPr>
              <a:t>https://github.com/galiData/champion-motors.git</a:t>
            </a:r>
            <a:endParaRPr lang="en-US" dirty="0"/>
          </a:p>
          <a:p>
            <a:r>
              <a:rPr lang="en-US" dirty="0"/>
              <a:t>Demo URL: </a:t>
            </a:r>
            <a:r>
              <a:rPr lang="en-US" dirty="0">
                <a:hlinkClick r:id="rId5"/>
              </a:rPr>
              <a:t>https://main.d10yr4rzojipa2.amplifyapp.com</a:t>
            </a:r>
            <a:endParaRPr lang="en-US" dirty="0"/>
          </a:p>
          <a:p>
            <a:r>
              <a:rPr lang="en-US" dirty="0"/>
              <a:t>Stay in touch: </a:t>
            </a:r>
            <a:r>
              <a:rPr lang="en-US" dirty="0">
                <a:hlinkClick r:id="rId6"/>
              </a:rPr>
              <a:t>www.linkedin.com/in/galvekselman</a:t>
            </a:r>
            <a:endParaRPr lang="en-US" dirty="0"/>
          </a:p>
          <a:p>
            <a:endParaRPr lang="en-US" dirty="0"/>
          </a:p>
        </p:txBody>
      </p:sp>
      <p:pic>
        <p:nvPicPr>
          <p:cNvPr id="30" name="Picture 29" descr="The image depicts a QR code, which is a two-dimensional barcode that can be scanned to reveal a web link or other information.&#10;&#10;AI-generated content may be incorrect.">
            <a:extLst>
              <a:ext uri="{FF2B5EF4-FFF2-40B4-BE49-F238E27FC236}">
                <a16:creationId xmlns:a16="http://schemas.microsoft.com/office/drawing/2014/main" id="{8FDC943F-F087-5E0A-BBD5-AEBCD18C833E}"/>
              </a:ext>
            </a:extLst>
          </p:cNvPr>
          <p:cNvPicPr>
            <a:picLocks noChangeAspect="1"/>
          </p:cNvPicPr>
          <p:nvPr/>
        </p:nvPicPr>
        <p:blipFill>
          <a:blip r:embed="rId7"/>
          <a:stretch>
            <a:fillRect/>
          </a:stretch>
        </p:blipFill>
        <p:spPr>
          <a:xfrm>
            <a:off x="2427320" y="2892416"/>
            <a:ext cx="2340411" cy="2346586"/>
          </a:xfrm>
          <a:prstGeom prst="rect">
            <a:avLst/>
          </a:prstGeom>
        </p:spPr>
      </p:pic>
    </p:spTree>
    <p:extLst>
      <p:ext uri="{BB962C8B-B14F-4D97-AF65-F5344CB8AC3E}">
        <p14:creationId xmlns:p14="http://schemas.microsoft.com/office/powerpoint/2010/main" val="51549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C49"/>
          </a:solidFill>
          <a:ln w="12700">
            <a:solidFill>
              <a:srgbClr val="161C49"/>
            </a:solidFill>
            <a:prstDash val="solid"/>
          </a:ln>
        </p:spPr>
        <p:txBody>
          <a:bodyPr/>
          <a:lstStyle/>
          <a:p>
            <a:endParaRPr lang="en-US"/>
          </a:p>
        </p:txBody>
      </p:sp>
      <p:sp>
        <p:nvSpPr>
          <p:cNvPr id="3" name="Shape 1"/>
          <p:cNvSpPr/>
          <p:nvPr/>
        </p:nvSpPr>
        <p:spPr>
          <a:xfrm>
            <a:off x="548640" y="2148840"/>
            <a:ext cx="1005840" cy="1005840"/>
          </a:xfrm>
          <a:prstGeom prst="ellipse">
            <a:avLst/>
          </a:prstGeom>
          <a:solidFill>
            <a:srgbClr val="00C9A7"/>
          </a:solidFill>
          <a:ln w="12700">
            <a:solidFill>
              <a:srgbClr val="00C9A7"/>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90042" y="2390242"/>
            <a:ext cx="523037" cy="523037"/>
          </a:xfrm>
          <a:prstGeom prst="rect">
            <a:avLst/>
          </a:prstGeom>
        </p:spPr>
      </p:pic>
      <p:sp>
        <p:nvSpPr>
          <p:cNvPr id="5" name="Text 2"/>
          <p:cNvSpPr/>
          <p:nvPr/>
        </p:nvSpPr>
        <p:spPr>
          <a:xfrm>
            <a:off x="548640" y="3291840"/>
            <a:ext cx="96012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Hour 1 — Immersion</a:t>
            </a:r>
            <a:endParaRPr lang="en-US" sz="3800" dirty="0"/>
          </a:p>
        </p:txBody>
      </p:sp>
      <p:sp>
        <p:nvSpPr>
          <p:cNvPr id="6" name="Text 3"/>
          <p:cNvSpPr/>
          <p:nvPr/>
        </p:nvSpPr>
        <p:spPr>
          <a:xfrm>
            <a:off x="548640" y="4160520"/>
            <a:ext cx="9601200" cy="54864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CLAUDE.md • Rules • Skills • Slash Commands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is Claude Code?</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600200"/>
            <a:ext cx="6400800" cy="4114800"/>
          </a:xfrm>
          <a:prstGeom prst="rect">
            <a:avLst/>
          </a:prstGeom>
          <a:noFill/>
          <a:ln/>
        </p:spPr>
        <p:txBody>
          <a:bodyPr wrap="square" rtlCol="0" anchor="t"/>
          <a:lstStyle/>
          <a:p>
            <a:pPr marL="228600" indent="-228600">
              <a:spcAft>
                <a:spcPts val="1800"/>
              </a:spcAft>
              <a:buSzPct val="100000"/>
              <a:buChar char="•"/>
            </a:pPr>
            <a:r>
              <a:rPr lang="en-US" sz="1700" dirty="0">
                <a:solidFill>
                  <a:srgbClr val="222834"/>
                </a:solidFill>
                <a:latin typeface="Calibri" pitchFamily="34" charset="0"/>
                <a:ea typeface="Calibri" pitchFamily="34" charset="-122"/>
                <a:cs typeface="Calibri" pitchFamily="34" charset="-120"/>
              </a:rPr>
              <a:t>An agentic CLI coding assistant — it reads and writes files, runs commands, and tests its own work</a:t>
            </a:r>
            <a:endParaRPr lang="en-US" sz="1700" dirty="0"/>
          </a:p>
          <a:p>
            <a:pPr marL="228600" indent="-228600">
              <a:spcAft>
                <a:spcPts val="1800"/>
              </a:spcAft>
              <a:buSzPct val="100000"/>
              <a:buChar char="•"/>
            </a:pPr>
            <a:r>
              <a:rPr lang="en-US" sz="1700" dirty="0">
                <a:solidFill>
                  <a:srgbClr val="222834"/>
                </a:solidFill>
                <a:latin typeface="Calibri" pitchFamily="34" charset="0"/>
                <a:ea typeface="Calibri" pitchFamily="34" charset="-122"/>
                <a:cs typeface="Calibri" pitchFamily="34" charset="-120"/>
              </a:rPr>
              <a:t>It works directly inside your actual repository, not a sandboxed chat window</a:t>
            </a:r>
            <a:endParaRPr lang="en-US" sz="1700" dirty="0"/>
          </a:p>
          <a:p>
            <a:pPr marL="228600" indent="-228600">
              <a:spcAft>
                <a:spcPts val="1800"/>
              </a:spcAft>
              <a:buSzPct val="100000"/>
              <a:buChar char="•"/>
            </a:pPr>
            <a:r>
              <a:rPr lang="en-US" sz="1700" dirty="0">
                <a:solidFill>
                  <a:srgbClr val="222834"/>
                </a:solidFill>
                <a:latin typeface="Calibri" pitchFamily="34" charset="0"/>
                <a:ea typeface="Calibri" pitchFamily="34" charset="-122"/>
                <a:cs typeface="Calibri" pitchFamily="34" charset="-120"/>
              </a:rPr>
              <a:t>You describe an outcome in plain language; Claude plans, edits, and verifies the change</a:t>
            </a:r>
            <a:endParaRPr lang="en-US" sz="1700" dirty="0"/>
          </a:p>
          <a:p>
            <a:pPr marL="228600" indent="-228600">
              <a:spcAft>
                <a:spcPts val="1800"/>
              </a:spcAft>
              <a:buSzPct val="100000"/>
              <a:buChar char="•"/>
            </a:pPr>
            <a:r>
              <a:rPr lang="en-US" sz="1700" dirty="0">
                <a:solidFill>
                  <a:srgbClr val="222834"/>
                </a:solidFill>
                <a:latin typeface="Calibri" pitchFamily="34" charset="0"/>
                <a:ea typeface="Calibri" pitchFamily="34" charset="-122"/>
                <a:cs typeface="Calibri" pitchFamily="34" charset="-120"/>
              </a:rPr>
              <a:t>Runs alongside VS Code and your terminal — no separate IDE required</a:t>
            </a:r>
          </a:p>
          <a:p>
            <a:pPr marL="228600" indent="-228600">
              <a:spcAft>
                <a:spcPts val="1800"/>
              </a:spcAft>
              <a:buSzPct val="100000"/>
              <a:buChar char="•"/>
            </a:pPr>
            <a:r>
              <a:rPr lang="en-US" sz="1700" dirty="0">
                <a:solidFill>
                  <a:srgbClr val="222834"/>
                </a:solidFill>
                <a:latin typeface="Calibri" pitchFamily="34" charset="0"/>
                <a:ea typeface="Calibri" pitchFamily="34" charset="-122"/>
                <a:cs typeface="Calibri" pitchFamily="34" charset="-120"/>
              </a:rPr>
              <a:t>Model options + Effort</a:t>
            </a:r>
          </a:p>
        </p:txBody>
      </p:sp>
      <p:sp>
        <p:nvSpPr>
          <p:cNvPr id="7" name="Shape 4"/>
          <p:cNvSpPr/>
          <p:nvPr/>
        </p:nvSpPr>
        <p:spPr>
          <a:xfrm>
            <a:off x="7406640" y="1600200"/>
            <a:ext cx="4206240" cy="4114800"/>
          </a:xfrm>
          <a:prstGeom prst="roundRect">
            <a:avLst>
              <a:gd name="adj" fmla="val 1778"/>
            </a:avLst>
          </a:prstGeom>
          <a:solidFill>
            <a:srgbClr val="F4F7FC"/>
          </a:solidFill>
          <a:ln w="12700">
            <a:solidFill>
              <a:srgbClr val="E1E7F2"/>
            </a:solidFill>
            <a:prstDash val="solid"/>
          </a:ln>
        </p:spPr>
        <p:txBody>
          <a:bodyPr/>
          <a:lstStyle/>
          <a:p>
            <a:endParaRPr lang="en-US"/>
          </a:p>
        </p:txBody>
      </p:sp>
      <p:sp>
        <p:nvSpPr>
          <p:cNvPr id="8" name="Text 5"/>
          <p:cNvSpPr/>
          <p:nvPr/>
        </p:nvSpPr>
        <p:spPr>
          <a:xfrm>
            <a:off x="7680960" y="1828800"/>
            <a:ext cx="365760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TODAY'S STACK</a:t>
            </a:r>
            <a:endParaRPr lang="en-US" sz="1200" dirty="0"/>
          </a:p>
        </p:txBody>
      </p:sp>
      <p:sp>
        <p:nvSpPr>
          <p:cNvPr id="9" name="Text 6"/>
          <p:cNvSpPr/>
          <p:nvPr/>
        </p:nvSpPr>
        <p:spPr>
          <a:xfrm>
            <a:off x="7680960" y="2194560"/>
            <a:ext cx="3657600" cy="3291840"/>
          </a:xfrm>
          <a:prstGeom prst="rect">
            <a:avLst/>
          </a:prstGeom>
          <a:noFill/>
          <a:ln/>
        </p:spPr>
        <p:txBody>
          <a:bodyPr wrap="square" rtlCol="0" anchor="t"/>
          <a:lstStyle/>
          <a:p>
            <a:pPr marL="228600" indent="-228600">
              <a:spcAft>
                <a:spcPts val="1200"/>
              </a:spcAft>
              <a:buSzPct val="100000"/>
              <a:buChar char="•"/>
            </a:pPr>
            <a:r>
              <a:rPr lang="en-US" sz="1500" dirty="0">
                <a:solidFill>
                  <a:srgbClr val="222834"/>
                </a:solidFill>
                <a:latin typeface="Calibri" pitchFamily="34" charset="0"/>
                <a:ea typeface="Calibri" pitchFamily="34" charset="-122"/>
                <a:cs typeface="Calibri" pitchFamily="34" charset="-120"/>
              </a:rPr>
              <a:t>React (Vite) front end</a:t>
            </a:r>
            <a:endParaRPr lang="en-US" sz="1500" dirty="0"/>
          </a:p>
          <a:p>
            <a:pPr marL="228600" indent="-228600">
              <a:spcAft>
                <a:spcPts val="1200"/>
              </a:spcAft>
              <a:buSzPct val="100000"/>
              <a:buChar char="•"/>
            </a:pPr>
            <a:r>
              <a:rPr lang="en-US" sz="1500" dirty="0">
                <a:solidFill>
                  <a:srgbClr val="222834"/>
                </a:solidFill>
                <a:latin typeface="Calibri" pitchFamily="34" charset="0"/>
                <a:ea typeface="Calibri" pitchFamily="34" charset="-122"/>
                <a:cs typeface="Calibri" pitchFamily="34" charset="-120"/>
              </a:rPr>
              <a:t>VS Code + terminal</a:t>
            </a:r>
            <a:endParaRPr lang="en-US" sz="1500" dirty="0"/>
          </a:p>
          <a:p>
            <a:pPr marL="228600" indent="-228600">
              <a:spcAft>
                <a:spcPts val="1200"/>
              </a:spcAft>
              <a:buSzPct val="100000"/>
              <a:buChar char="•"/>
            </a:pPr>
            <a:r>
              <a:rPr lang="en-US" sz="1500" dirty="0">
                <a:solidFill>
                  <a:srgbClr val="222834"/>
                </a:solidFill>
                <a:latin typeface="Calibri" pitchFamily="34" charset="0"/>
                <a:ea typeface="Calibri" pitchFamily="34" charset="-122"/>
                <a:cs typeface="Calibri" pitchFamily="34" charset="-120"/>
              </a:rPr>
              <a:t>Git → Azure DevOps</a:t>
            </a:r>
            <a:endParaRPr lang="en-US" sz="1500" dirty="0"/>
          </a:p>
          <a:p>
            <a:pPr marL="228600" indent="-228600">
              <a:spcAft>
                <a:spcPts val="1200"/>
              </a:spcAft>
              <a:buSzPct val="100000"/>
              <a:buChar char="•"/>
            </a:pPr>
            <a:r>
              <a:rPr lang="en-US" sz="1500" dirty="0">
                <a:solidFill>
                  <a:srgbClr val="222834"/>
                </a:solidFill>
                <a:latin typeface="Calibri" pitchFamily="34" charset="0"/>
                <a:ea typeface="Calibri" pitchFamily="34" charset="-122"/>
                <a:cs typeface="Calibri" pitchFamily="34" charset="-120"/>
              </a:rPr>
              <a:t>AWS Amplify hosting</a:t>
            </a:r>
            <a:endParaRPr lang="en-US" sz="1500" dirty="0"/>
          </a:p>
        </p:txBody>
      </p:sp>
      <p:sp>
        <p:nvSpPr>
          <p:cNvPr id="10" name="Text 7"/>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11" name="Text 8"/>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CLAUDE.md and Rules</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417320"/>
            <a:ext cx="548640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Persistent project memory</a:t>
            </a:r>
            <a:endParaRPr lang="en-US" sz="1600" dirty="0"/>
          </a:p>
        </p:txBody>
      </p:sp>
      <p:sp>
        <p:nvSpPr>
          <p:cNvPr id="7" name="Text 4"/>
          <p:cNvSpPr/>
          <p:nvPr/>
        </p:nvSpPr>
        <p:spPr>
          <a:xfrm>
            <a:off x="548640" y="1828800"/>
            <a:ext cx="6126480" cy="3200400"/>
          </a:xfrm>
          <a:prstGeom prst="rect">
            <a:avLst/>
          </a:prstGeom>
          <a:noFill/>
          <a:ln/>
        </p:spPr>
        <p:txBody>
          <a:bodyPr wrap="square" rtlCol="0" anchor="t"/>
          <a:lstStyle/>
          <a:p>
            <a:pPr marL="228600" indent="-228600">
              <a:spcAft>
                <a:spcPts val="1600"/>
              </a:spcAft>
              <a:buSzPct val="100000"/>
              <a:buChar char="•"/>
            </a:pPr>
            <a:r>
              <a:rPr lang="en-US" sz="1600" dirty="0">
                <a:solidFill>
                  <a:srgbClr val="222834"/>
                </a:solidFill>
                <a:latin typeface="Calibri" pitchFamily="34" charset="0"/>
                <a:ea typeface="Calibri" pitchFamily="34" charset="-122"/>
                <a:cs typeface="Calibri" pitchFamily="34" charset="-120"/>
              </a:rPr>
              <a:t>CLAUDE.md holds architecture notes, conventions, and gotchas Claude should always know</a:t>
            </a:r>
            <a:endParaRPr lang="en-US" sz="1600" dirty="0"/>
          </a:p>
          <a:p>
            <a:pPr marL="228600" indent="-228600">
              <a:spcAft>
                <a:spcPts val="1600"/>
              </a:spcAft>
              <a:buSzPct val="100000"/>
              <a:buChar char="•"/>
            </a:pPr>
            <a:r>
              <a:rPr lang="en-US" sz="1600" dirty="0">
                <a:solidFill>
                  <a:srgbClr val="222834"/>
                </a:solidFill>
                <a:latin typeface="Calibri" pitchFamily="34" charset="0"/>
                <a:ea typeface="Calibri" pitchFamily="34" charset="-122"/>
                <a:cs typeface="Calibri" pitchFamily="34" charset="-120"/>
              </a:rPr>
              <a:t>Rules are explicit do's and don'ts — e.g. “always use TypeScript”, “never commit directly to main”</a:t>
            </a:r>
            <a:endParaRPr lang="en-US" sz="1600" dirty="0"/>
          </a:p>
          <a:p>
            <a:pPr marL="228600" indent="-228600">
              <a:spcAft>
                <a:spcPts val="1600"/>
              </a:spcAft>
              <a:buSzPct val="100000"/>
              <a:buChar char="•"/>
            </a:pPr>
            <a:r>
              <a:rPr lang="en-US" sz="1600" dirty="0">
                <a:solidFill>
                  <a:srgbClr val="222834"/>
                </a:solidFill>
                <a:latin typeface="Calibri" pitchFamily="34" charset="0"/>
                <a:ea typeface="Calibri" pitchFamily="34" charset="-122"/>
                <a:cs typeface="Calibri" pitchFamily="34" charset="-120"/>
              </a:rPr>
              <a:t>Good CLAUDE.md content means fewer repeated corrections across a session</a:t>
            </a:r>
            <a:endParaRPr lang="en-US" sz="1600" dirty="0"/>
          </a:p>
        </p:txBody>
      </p:sp>
      <p:sp>
        <p:nvSpPr>
          <p:cNvPr id="8" name="Shape 5"/>
          <p:cNvSpPr/>
          <p:nvPr/>
        </p:nvSpPr>
        <p:spPr>
          <a:xfrm>
            <a:off x="6949440" y="1417320"/>
            <a:ext cx="4663440" cy="4297680"/>
          </a:xfrm>
          <a:prstGeom prst="roundRect">
            <a:avLst>
              <a:gd name="adj" fmla="val 1702"/>
            </a:avLst>
          </a:prstGeom>
          <a:solidFill>
            <a:srgbClr val="F4F7FC"/>
          </a:solidFill>
          <a:ln w="12700">
            <a:solidFill>
              <a:srgbClr val="E1E7F2"/>
            </a:solidFill>
            <a:prstDash val="solid"/>
          </a:ln>
        </p:spPr>
        <p:txBody>
          <a:bodyPr/>
          <a:lstStyle/>
          <a:p>
            <a:endParaRPr lang="en-US"/>
          </a:p>
        </p:txBody>
      </p:sp>
      <p:sp>
        <p:nvSpPr>
          <p:cNvPr id="9" name="Text 6"/>
          <p:cNvSpPr/>
          <p:nvPr/>
        </p:nvSpPr>
        <p:spPr>
          <a:xfrm>
            <a:off x="7223760" y="1645920"/>
            <a:ext cx="365760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LIVE DEMO</a:t>
            </a:r>
            <a:endParaRPr lang="en-US" sz="1200" dirty="0"/>
          </a:p>
        </p:txBody>
      </p:sp>
      <p:sp>
        <p:nvSpPr>
          <p:cNvPr id="10" name="Shape 7"/>
          <p:cNvSpPr/>
          <p:nvPr/>
        </p:nvSpPr>
        <p:spPr>
          <a:xfrm>
            <a:off x="7223760" y="2057400"/>
            <a:ext cx="4114800" cy="1554480"/>
          </a:xfrm>
          <a:prstGeom prst="roundRect">
            <a:avLst>
              <a:gd name="adj" fmla="val 4706"/>
            </a:avLst>
          </a:prstGeom>
          <a:solidFill>
            <a:srgbClr val="1B2233"/>
          </a:solidFill>
          <a:ln w="12700">
            <a:solidFill>
              <a:srgbClr val="1B2233"/>
            </a:solidFill>
            <a:prstDash val="solid"/>
          </a:ln>
        </p:spPr>
        <p:txBody>
          <a:bodyPr/>
          <a:lstStyle/>
          <a:p>
            <a:endParaRPr lang="en-US"/>
          </a:p>
        </p:txBody>
      </p:sp>
      <p:sp>
        <p:nvSpPr>
          <p:cNvPr id="11" name="Text 8"/>
          <p:cNvSpPr/>
          <p:nvPr/>
        </p:nvSpPr>
        <p:spPr>
          <a:xfrm>
            <a:off x="7424928" y="2185416"/>
            <a:ext cx="3712464" cy="1298448"/>
          </a:xfrm>
          <a:prstGeom prst="rect">
            <a:avLst/>
          </a:prstGeom>
          <a:noFill/>
          <a:ln/>
        </p:spPr>
        <p:txBody>
          <a:bodyPr wrap="square" rtlCol="0" anchor="t"/>
          <a:lstStyle/>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 claude</a:t>
            </a:r>
            <a:endParaRPr lang="en-US" sz="1400" dirty="0"/>
          </a:p>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&gt; /init</a:t>
            </a:r>
            <a:endParaRPr lang="en-US" sz="1400" dirty="0"/>
          </a:p>
          <a:p>
            <a:pPr marL="0" indent="0">
              <a:lnSpc>
                <a:spcPct val="125000"/>
              </a:lnSpc>
              <a:buNone/>
            </a:pPr>
            <a:endParaRPr lang="en-US" sz="1400" dirty="0"/>
          </a:p>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 generates a starter CLAUDE.md</a:t>
            </a:r>
            <a:endParaRPr lang="en-US" sz="1400" dirty="0"/>
          </a:p>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 from the existing repo</a:t>
            </a:r>
            <a:endParaRPr lang="en-US" sz="1400" dirty="0"/>
          </a:p>
        </p:txBody>
      </p:sp>
      <p:sp>
        <p:nvSpPr>
          <p:cNvPr id="12" name="Text 9"/>
          <p:cNvSpPr/>
          <p:nvPr/>
        </p:nvSpPr>
        <p:spPr>
          <a:xfrm>
            <a:off x="7223760" y="3749040"/>
            <a:ext cx="4114800" cy="1737360"/>
          </a:xfrm>
          <a:prstGeom prst="rect">
            <a:avLst/>
          </a:prstGeom>
          <a:noFill/>
          <a:ln/>
        </p:spPr>
        <p:txBody>
          <a:bodyPr wrap="square" rtlCol="0" anchor="t"/>
          <a:lstStyle/>
          <a:p>
            <a:pPr marL="0" indent="0">
              <a:buNone/>
            </a:pPr>
            <a:r>
              <a:rPr lang="en-US" sz="1300" i="1" dirty="0">
                <a:solidFill>
                  <a:srgbClr val="6E7B91"/>
                </a:solidFill>
                <a:latin typeface="Calibri" pitchFamily="34" charset="0"/>
                <a:ea typeface="Calibri" pitchFamily="34" charset="-122"/>
                <a:cs typeface="Calibri" pitchFamily="34" charset="-120"/>
              </a:rPr>
              <a:t>Walk through the generated file together — point out what it captured automatically vs. what you'll want to add by hand.</a:t>
            </a:r>
            <a:endParaRPr lang="en-US" sz="1300" dirty="0"/>
          </a:p>
        </p:txBody>
      </p:sp>
      <p:sp>
        <p:nvSpPr>
          <p:cNvPr id="13" name="Text 10"/>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14" name="Text 11"/>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Skills: Superpowers &amp; Brand Guidelines</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371600"/>
            <a:ext cx="11094415" cy="411480"/>
          </a:xfrm>
          <a:prstGeom prst="rect">
            <a:avLst/>
          </a:prstGeom>
          <a:noFill/>
          <a:ln/>
        </p:spPr>
        <p:txBody>
          <a:bodyPr wrap="square" rtlCol="0" anchor="ctr"/>
          <a:lstStyle/>
          <a:p>
            <a:pPr marL="0" indent="0">
              <a:buNone/>
            </a:pPr>
            <a:r>
              <a:rPr lang="en-US" sz="1500" i="1" dirty="0">
                <a:solidFill>
                  <a:srgbClr val="6E7B91"/>
                </a:solidFill>
                <a:latin typeface="Calibri" pitchFamily="34" charset="0"/>
                <a:ea typeface="Calibri" pitchFamily="34" charset="-122"/>
                <a:cs typeface="Calibri" pitchFamily="34" charset="-120"/>
              </a:rPr>
              <a:t>Reusable folders of instructions (and scripts) Claude reads before doing a task type.</a:t>
            </a:r>
            <a:endParaRPr lang="en-US" sz="1500" dirty="0"/>
          </a:p>
        </p:txBody>
      </p:sp>
      <p:sp>
        <p:nvSpPr>
          <p:cNvPr id="7" name="Shape 4"/>
          <p:cNvSpPr/>
          <p:nvPr/>
        </p:nvSpPr>
        <p:spPr>
          <a:xfrm>
            <a:off x="548640" y="2011680"/>
            <a:ext cx="5349240" cy="3291840"/>
          </a:xfrm>
          <a:prstGeom prst="roundRect">
            <a:avLst>
              <a:gd name="adj" fmla="val 2222"/>
            </a:avLst>
          </a:prstGeom>
          <a:solidFill>
            <a:srgbClr val="F4F7FC"/>
          </a:solidFill>
          <a:ln w="12700">
            <a:solidFill>
              <a:srgbClr val="E1E7F2"/>
            </a:solidFill>
            <a:prstDash val="solid"/>
          </a:ln>
        </p:spPr>
        <p:txBody>
          <a:bodyPr/>
          <a:lstStyle/>
          <a:p>
            <a:endParaRPr lang="en-US"/>
          </a:p>
        </p:txBody>
      </p:sp>
      <p:sp>
        <p:nvSpPr>
          <p:cNvPr id="8" name="Text 5"/>
          <p:cNvSpPr/>
          <p:nvPr/>
        </p:nvSpPr>
        <p:spPr>
          <a:xfrm>
            <a:off x="868680" y="2286000"/>
            <a:ext cx="4709160" cy="457200"/>
          </a:xfrm>
          <a:prstGeom prst="rect">
            <a:avLst/>
          </a:prstGeom>
          <a:noFill/>
          <a:ln/>
        </p:spPr>
        <p:txBody>
          <a:bodyPr wrap="square"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“Superpower” Skill</a:t>
            </a:r>
            <a:endParaRPr lang="en-US" sz="1900" dirty="0"/>
          </a:p>
        </p:txBody>
      </p:sp>
      <p:sp>
        <p:nvSpPr>
          <p:cNvPr id="9" name="Text 6"/>
          <p:cNvSpPr/>
          <p:nvPr/>
        </p:nvSpPr>
        <p:spPr>
          <a:xfrm>
            <a:off x="868680" y="2880360"/>
            <a:ext cx="4709160" cy="2194560"/>
          </a:xfrm>
          <a:prstGeom prst="rect">
            <a:avLst/>
          </a:prstGeom>
          <a:noFill/>
          <a:ln/>
        </p:spPr>
        <p:txBody>
          <a:bodyPr wrap="square" rtlCol="0" anchor="t"/>
          <a:lstStyle/>
          <a:p>
            <a:pPr marL="0" indent="0">
              <a:buNone/>
            </a:pPr>
            <a:r>
              <a:rPr lang="en-US" sz="1450" dirty="0">
                <a:solidFill>
                  <a:srgbClr val="222834"/>
                </a:solidFill>
                <a:latin typeface="Calibri" pitchFamily="34" charset="0"/>
                <a:ea typeface="Calibri" pitchFamily="34" charset="-122"/>
                <a:cs typeface="Calibri" pitchFamily="34" charset="-120"/>
              </a:rPr>
              <a:t>A custom skill for a repeated team task — e.g. scaffolding a new component with your team's exact conventions, so Claude never has to be re-taught.</a:t>
            </a:r>
          </a:p>
          <a:p>
            <a:pPr marL="0" indent="0">
              <a:buNone/>
            </a:pPr>
            <a:endParaRPr lang="en-US" sz="1450" dirty="0">
              <a:solidFill>
                <a:srgbClr val="222834"/>
              </a:solidFill>
              <a:latin typeface="Calibri" pitchFamily="34" charset="0"/>
              <a:ea typeface="Calibri" pitchFamily="34" charset="-122"/>
              <a:cs typeface="Calibri" pitchFamily="34" charset="-120"/>
            </a:endParaRPr>
          </a:p>
          <a:p>
            <a:pPr marL="0" indent="0">
              <a:buNone/>
            </a:pPr>
            <a:r>
              <a:rPr lang="en-US" sz="2000" b="1" dirty="0">
                <a:solidFill>
                  <a:srgbClr val="222834"/>
                </a:solidFill>
                <a:latin typeface="Calibri" pitchFamily="34" charset="0"/>
                <a:ea typeface="Calibri" pitchFamily="34" charset="-122"/>
                <a:cs typeface="Calibri" pitchFamily="34" charset="-120"/>
              </a:rPr>
              <a:t>Context Engineering / Vibe Coding</a:t>
            </a:r>
            <a:endParaRPr lang="en-US" sz="2000" b="1" dirty="0"/>
          </a:p>
        </p:txBody>
      </p:sp>
      <p:sp>
        <p:nvSpPr>
          <p:cNvPr id="10" name="Shape 7"/>
          <p:cNvSpPr/>
          <p:nvPr/>
        </p:nvSpPr>
        <p:spPr>
          <a:xfrm>
            <a:off x="6263640" y="2011680"/>
            <a:ext cx="5349240" cy="3291840"/>
          </a:xfrm>
          <a:prstGeom prst="roundRect">
            <a:avLst>
              <a:gd name="adj" fmla="val 2222"/>
            </a:avLst>
          </a:prstGeom>
          <a:solidFill>
            <a:srgbClr val="F4F7FC"/>
          </a:solidFill>
          <a:ln w="12700">
            <a:solidFill>
              <a:srgbClr val="E1E7F2"/>
            </a:solidFill>
            <a:prstDash val="solid"/>
          </a:ln>
        </p:spPr>
        <p:txBody>
          <a:bodyPr/>
          <a:lstStyle/>
          <a:p>
            <a:endParaRPr lang="en-US"/>
          </a:p>
        </p:txBody>
      </p:sp>
      <p:sp>
        <p:nvSpPr>
          <p:cNvPr id="11" name="Text 8"/>
          <p:cNvSpPr/>
          <p:nvPr/>
        </p:nvSpPr>
        <p:spPr>
          <a:xfrm>
            <a:off x="6583680" y="2286000"/>
            <a:ext cx="4709160" cy="457200"/>
          </a:xfrm>
          <a:prstGeom prst="rect">
            <a:avLst/>
          </a:prstGeom>
          <a:noFill/>
          <a:ln/>
        </p:spPr>
        <p:txBody>
          <a:bodyPr wrap="square" rtlCol="0" anchor="ctr"/>
          <a:lstStyle/>
          <a:p>
            <a:pPr marL="0" indent="0">
              <a:buNone/>
            </a:pPr>
            <a:r>
              <a:rPr lang="en-US" sz="1900" b="1" dirty="0">
                <a:solidFill>
                  <a:srgbClr val="1E2761"/>
                </a:solidFill>
                <a:latin typeface="Cambria" pitchFamily="34" charset="0"/>
                <a:ea typeface="Cambria" pitchFamily="34" charset="-122"/>
                <a:cs typeface="Cambria" pitchFamily="34" charset="-120"/>
              </a:rPr>
              <a:t>Brand Guideline Skill</a:t>
            </a:r>
            <a:endParaRPr lang="en-US" sz="1900" dirty="0"/>
          </a:p>
        </p:txBody>
      </p:sp>
      <p:sp>
        <p:nvSpPr>
          <p:cNvPr id="12" name="Text 9"/>
          <p:cNvSpPr/>
          <p:nvPr/>
        </p:nvSpPr>
        <p:spPr>
          <a:xfrm>
            <a:off x="6583680" y="2880360"/>
            <a:ext cx="4709160" cy="2194560"/>
          </a:xfrm>
          <a:prstGeom prst="rect">
            <a:avLst/>
          </a:prstGeom>
          <a:noFill/>
          <a:ln/>
        </p:spPr>
        <p:txBody>
          <a:bodyPr wrap="square" rtlCol="0" anchor="t"/>
          <a:lstStyle/>
          <a:p>
            <a:pPr marL="0" indent="0">
              <a:buNone/>
            </a:pPr>
            <a:r>
              <a:rPr lang="en-US" sz="1450" dirty="0">
                <a:solidFill>
                  <a:srgbClr val="222834"/>
                </a:solidFill>
                <a:latin typeface="Calibri" pitchFamily="34" charset="0"/>
                <a:ea typeface="Calibri" pitchFamily="34" charset="-122"/>
                <a:cs typeface="Calibri" pitchFamily="34" charset="-120"/>
              </a:rPr>
              <a:t>Encodes Champion Motors colors, fonts, and component style — every generated UI matches brand automatically, no manual restyling.</a:t>
            </a:r>
            <a:endParaRPr lang="en-US" sz="1450" dirty="0"/>
          </a:p>
        </p:txBody>
      </p:sp>
      <p:sp>
        <p:nvSpPr>
          <p:cNvPr id="13" name="Text 10"/>
          <p:cNvSpPr/>
          <p:nvPr/>
        </p:nvSpPr>
        <p:spPr>
          <a:xfrm>
            <a:off x="548640" y="5486400"/>
            <a:ext cx="11094415" cy="457200"/>
          </a:xfrm>
          <a:prstGeom prst="rect">
            <a:avLst/>
          </a:prstGeom>
          <a:noFill/>
          <a:ln/>
        </p:spPr>
        <p:txBody>
          <a:bodyPr wrap="square" rtlCol="0" anchor="ctr"/>
          <a:lstStyle/>
          <a:p>
            <a:pPr marL="0" indent="0">
              <a:buNone/>
            </a:pPr>
            <a:r>
              <a:rPr lang="en-US" sz="1300" i="1" dirty="0">
                <a:solidFill>
                  <a:srgbClr val="6E7B91"/>
                </a:solidFill>
                <a:latin typeface="Calibri" pitchFamily="34" charset="0"/>
                <a:ea typeface="Calibri" pitchFamily="34" charset="-122"/>
                <a:cs typeface="Calibri" pitchFamily="34" charset="-120"/>
              </a:rPr>
              <a:t>Demo tip: show where skills live in the repo (SKILL.md) and how Claude decides which one to use for a given task.</a:t>
            </a:r>
            <a:endParaRPr lang="en-US" sz="1300" dirty="0"/>
          </a:p>
        </p:txBody>
      </p:sp>
      <p:sp>
        <p:nvSpPr>
          <p:cNvPr id="14" name="Text 11"/>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15" name="Text 1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Slash Commands</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417320"/>
            <a:ext cx="530352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BUILT-IN</a:t>
            </a:r>
            <a:endParaRPr lang="en-US" sz="1200" dirty="0"/>
          </a:p>
        </p:txBody>
      </p:sp>
      <p:sp>
        <p:nvSpPr>
          <p:cNvPr id="7" name="Shape 4"/>
          <p:cNvSpPr/>
          <p:nvPr/>
        </p:nvSpPr>
        <p:spPr>
          <a:xfrm>
            <a:off x="548640" y="1737360"/>
            <a:ext cx="5303520" cy="1965960"/>
          </a:xfrm>
          <a:prstGeom prst="roundRect">
            <a:avLst>
              <a:gd name="adj" fmla="val 3721"/>
            </a:avLst>
          </a:prstGeom>
          <a:solidFill>
            <a:srgbClr val="1B2233"/>
          </a:solidFill>
          <a:ln w="12700">
            <a:solidFill>
              <a:srgbClr val="1B2233"/>
            </a:solidFill>
            <a:prstDash val="solid"/>
          </a:ln>
        </p:spPr>
        <p:txBody>
          <a:bodyPr/>
          <a:lstStyle/>
          <a:p>
            <a:endParaRPr lang="en-US"/>
          </a:p>
        </p:txBody>
      </p:sp>
      <p:sp>
        <p:nvSpPr>
          <p:cNvPr id="8" name="Text 5"/>
          <p:cNvSpPr/>
          <p:nvPr/>
        </p:nvSpPr>
        <p:spPr>
          <a:xfrm>
            <a:off x="749808" y="1865376"/>
            <a:ext cx="4901184" cy="1709928"/>
          </a:xfrm>
          <a:prstGeom prst="rect">
            <a:avLst/>
          </a:prstGeom>
          <a:noFill/>
          <a:ln/>
        </p:spPr>
        <p:txBody>
          <a:bodyPr wrap="square" rtlCol="0" anchor="t"/>
          <a:lstStyle/>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/init      generate a starter CLAUDE.md</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/clear     clear conversation context</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/compact   compact context, keep key details</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/model     switch models mid-session</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/help      list available commands</a:t>
            </a:r>
            <a:endParaRPr lang="en-US" sz="1350" dirty="0"/>
          </a:p>
        </p:txBody>
      </p:sp>
      <p:sp>
        <p:nvSpPr>
          <p:cNvPr id="9" name="Text 6"/>
          <p:cNvSpPr/>
          <p:nvPr/>
        </p:nvSpPr>
        <p:spPr>
          <a:xfrm>
            <a:off x="548640" y="3931920"/>
            <a:ext cx="530352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CUSTOM — EXAMPLES FOR TODAY</a:t>
            </a:r>
            <a:endParaRPr lang="en-US" sz="1200" dirty="0"/>
          </a:p>
        </p:txBody>
      </p:sp>
      <p:sp>
        <p:nvSpPr>
          <p:cNvPr id="10" name="Shape 7"/>
          <p:cNvSpPr/>
          <p:nvPr/>
        </p:nvSpPr>
        <p:spPr>
          <a:xfrm>
            <a:off x="548640" y="4251960"/>
            <a:ext cx="5303520" cy="1965960"/>
          </a:xfrm>
          <a:prstGeom prst="roundRect">
            <a:avLst>
              <a:gd name="adj" fmla="val 3721"/>
            </a:avLst>
          </a:prstGeom>
          <a:solidFill>
            <a:srgbClr val="1B2233"/>
          </a:solidFill>
          <a:ln w="12700">
            <a:solidFill>
              <a:srgbClr val="1B2233"/>
            </a:solidFill>
            <a:prstDash val="solid"/>
          </a:ln>
        </p:spPr>
        <p:txBody>
          <a:bodyPr/>
          <a:lstStyle/>
          <a:p>
            <a:endParaRPr lang="en-US"/>
          </a:p>
        </p:txBody>
      </p:sp>
      <p:sp>
        <p:nvSpPr>
          <p:cNvPr id="11" name="Text 8"/>
          <p:cNvSpPr/>
          <p:nvPr/>
        </p:nvSpPr>
        <p:spPr>
          <a:xfrm>
            <a:off x="749808" y="4379976"/>
            <a:ext cx="4901184" cy="17099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/advisor   pause, get a recommendation</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before implementing</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/goal      state the session objective</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so Claude stays on target</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/loop      iterate automatically until</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tests/criteria pass</a:t>
            </a:r>
            <a:endParaRPr lang="en-US" sz="1300" dirty="0"/>
          </a:p>
        </p:txBody>
      </p:sp>
      <p:sp>
        <p:nvSpPr>
          <p:cNvPr id="12" name="Shape 9"/>
          <p:cNvSpPr/>
          <p:nvPr/>
        </p:nvSpPr>
        <p:spPr>
          <a:xfrm>
            <a:off x="6675120" y="1417320"/>
            <a:ext cx="4937760" cy="4800600"/>
          </a:xfrm>
          <a:prstGeom prst="roundRect">
            <a:avLst>
              <a:gd name="adj" fmla="val 1524"/>
            </a:avLst>
          </a:prstGeom>
          <a:solidFill>
            <a:srgbClr val="F4F7FC"/>
          </a:solidFill>
          <a:ln w="12700">
            <a:solidFill>
              <a:srgbClr val="E1E7F2"/>
            </a:solidFill>
            <a:prstDash val="solid"/>
          </a:ln>
        </p:spPr>
        <p:txBody>
          <a:bodyPr/>
          <a:lstStyle/>
          <a:p>
            <a:endParaRPr lang="en-US"/>
          </a:p>
        </p:txBody>
      </p:sp>
      <p:sp>
        <p:nvSpPr>
          <p:cNvPr id="13" name="Text 10"/>
          <p:cNvSpPr/>
          <p:nvPr/>
        </p:nvSpPr>
        <p:spPr>
          <a:xfrm>
            <a:off x="6949440" y="1645920"/>
            <a:ext cx="411480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LIVE DEMO</a:t>
            </a:r>
            <a:endParaRPr lang="en-US" sz="1200" dirty="0"/>
          </a:p>
        </p:txBody>
      </p:sp>
      <p:sp>
        <p:nvSpPr>
          <p:cNvPr id="14" name="Text 11"/>
          <p:cNvSpPr/>
          <p:nvPr/>
        </p:nvSpPr>
        <p:spPr>
          <a:xfrm>
            <a:off x="6949440" y="2057400"/>
            <a:ext cx="4389120" cy="1234440"/>
          </a:xfrm>
          <a:prstGeom prst="rect">
            <a:avLst/>
          </a:prstGeom>
          <a:noFill/>
          <a:ln/>
        </p:spPr>
        <p:txBody>
          <a:bodyPr wrap="square" rtlCol="0" anchor="t"/>
          <a:lstStyle/>
          <a:p>
            <a:pPr marL="0" indent="0">
              <a:buNone/>
            </a:pPr>
            <a:r>
              <a:rPr lang="en-US" sz="1400" dirty="0">
                <a:solidFill>
                  <a:srgbClr val="222834"/>
                </a:solidFill>
                <a:latin typeface="Calibri" pitchFamily="34" charset="0"/>
                <a:ea typeface="Calibri" pitchFamily="34" charset="-122"/>
                <a:cs typeface="Calibri" pitchFamily="34" charset="-120"/>
              </a:rPr>
              <a:t>Build /goal live — a command that pins the feature objective at the top of context so Claude keeps checking new work against it.</a:t>
            </a:r>
            <a:endParaRPr lang="en-US" sz="1400" dirty="0"/>
          </a:p>
        </p:txBody>
      </p:sp>
      <p:sp>
        <p:nvSpPr>
          <p:cNvPr id="15" name="Shape 12"/>
          <p:cNvSpPr/>
          <p:nvPr/>
        </p:nvSpPr>
        <p:spPr>
          <a:xfrm>
            <a:off x="6949440" y="3383280"/>
            <a:ext cx="4389120" cy="1234440"/>
          </a:xfrm>
          <a:prstGeom prst="roundRect">
            <a:avLst>
              <a:gd name="adj" fmla="val 5926"/>
            </a:avLst>
          </a:prstGeom>
          <a:solidFill>
            <a:srgbClr val="1B2233"/>
          </a:solidFill>
          <a:ln w="12700">
            <a:solidFill>
              <a:srgbClr val="1B2233"/>
            </a:solidFill>
            <a:prstDash val="solid"/>
          </a:ln>
        </p:spPr>
        <p:txBody>
          <a:bodyPr/>
          <a:lstStyle/>
          <a:p>
            <a:endParaRPr lang="en-US"/>
          </a:p>
        </p:txBody>
      </p:sp>
      <p:sp>
        <p:nvSpPr>
          <p:cNvPr id="16" name="Text 13"/>
          <p:cNvSpPr/>
          <p:nvPr/>
        </p:nvSpPr>
        <p:spPr>
          <a:xfrm>
            <a:off x="7150608" y="3511296"/>
            <a:ext cx="3986784" cy="978408"/>
          </a:xfrm>
          <a:prstGeom prst="rect">
            <a:avLst/>
          </a:prstGeom>
          <a:noFill/>
          <a:ln/>
        </p:spPr>
        <p:txBody>
          <a:bodyPr wrap="square" rtlCol="0" anchor="t"/>
          <a:lstStyle/>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.claude/commands/</a:t>
            </a:r>
            <a:endParaRPr lang="en-US" sz="1400" dirty="0"/>
          </a:p>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  goal.md</a:t>
            </a:r>
            <a:endParaRPr lang="en-US" sz="1400" dirty="0"/>
          </a:p>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  advisor.md</a:t>
            </a:r>
            <a:endParaRPr lang="en-US" sz="1400" dirty="0"/>
          </a:p>
          <a:p>
            <a:pPr marL="0" indent="0">
              <a:lnSpc>
                <a:spcPct val="125000"/>
              </a:lnSpc>
              <a:buNone/>
            </a:pPr>
            <a:r>
              <a:rPr lang="en-US" sz="1400" dirty="0">
                <a:solidFill>
                  <a:srgbClr val="9BE8D8"/>
                </a:solidFill>
                <a:latin typeface="Consolas" pitchFamily="34" charset="0"/>
                <a:ea typeface="Consolas" pitchFamily="34" charset="-122"/>
                <a:cs typeface="Consolas" pitchFamily="34" charset="-120"/>
              </a:rPr>
              <a:t>  loop.md</a:t>
            </a:r>
            <a:endParaRPr lang="en-US" sz="1400" dirty="0"/>
          </a:p>
        </p:txBody>
      </p:sp>
      <p:sp>
        <p:nvSpPr>
          <p:cNvPr id="17" name="Text 14"/>
          <p:cNvSpPr/>
          <p:nvPr/>
        </p:nvSpPr>
        <p:spPr>
          <a:xfrm>
            <a:off x="6949440" y="4754880"/>
            <a:ext cx="4389120" cy="1280160"/>
          </a:xfrm>
          <a:prstGeom prst="rect">
            <a:avLst/>
          </a:prstGeom>
          <a:noFill/>
          <a:ln/>
        </p:spPr>
        <p:txBody>
          <a:bodyPr wrap="square" rtlCol="0" anchor="t"/>
          <a:lstStyle/>
          <a:p>
            <a:pPr marL="0" indent="0">
              <a:buNone/>
            </a:pPr>
            <a:r>
              <a:rPr lang="en-US" sz="1300" i="1" dirty="0">
                <a:solidFill>
                  <a:srgbClr val="6E7B91"/>
                </a:solidFill>
                <a:latin typeface="Calibri" pitchFamily="34" charset="0"/>
                <a:ea typeface="Calibri" pitchFamily="34" charset="-122"/>
                <a:cs typeface="Calibri" pitchFamily="34" charset="-120"/>
              </a:rPr>
              <a:t>Saved as markdown files — shared with the team via git, reviewed like any other code.</a:t>
            </a:r>
            <a:endParaRPr lang="en-US" sz="1300" dirty="0"/>
          </a:p>
        </p:txBody>
      </p:sp>
      <p:sp>
        <p:nvSpPr>
          <p:cNvPr id="18" name="Text 15"/>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19" name="Text 16"/>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C49"/>
          </a:solidFill>
          <a:ln w="12700">
            <a:solidFill>
              <a:srgbClr val="161C49"/>
            </a:solidFill>
            <a:prstDash val="solid"/>
          </a:ln>
        </p:spPr>
        <p:txBody>
          <a:bodyPr/>
          <a:lstStyle/>
          <a:p>
            <a:endParaRPr lang="en-US"/>
          </a:p>
        </p:txBody>
      </p:sp>
      <p:sp>
        <p:nvSpPr>
          <p:cNvPr id="3" name="Shape 1"/>
          <p:cNvSpPr/>
          <p:nvPr/>
        </p:nvSpPr>
        <p:spPr>
          <a:xfrm>
            <a:off x="548640" y="2148840"/>
            <a:ext cx="1005840" cy="1005840"/>
          </a:xfrm>
          <a:prstGeom prst="ellipse">
            <a:avLst/>
          </a:prstGeom>
          <a:solidFill>
            <a:srgbClr val="00C9A7"/>
          </a:solidFill>
          <a:ln w="12700">
            <a:solidFill>
              <a:srgbClr val="00C9A7"/>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90042" y="2390242"/>
            <a:ext cx="523037" cy="523037"/>
          </a:xfrm>
          <a:prstGeom prst="rect">
            <a:avLst/>
          </a:prstGeom>
        </p:spPr>
      </p:pic>
      <p:sp>
        <p:nvSpPr>
          <p:cNvPr id="5" name="Text 2"/>
          <p:cNvSpPr/>
          <p:nvPr/>
        </p:nvSpPr>
        <p:spPr>
          <a:xfrm>
            <a:off x="548640" y="3291840"/>
            <a:ext cx="96012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Hour 2 — Live Build</a:t>
            </a:r>
            <a:endParaRPr lang="en-US" sz="3800" dirty="0"/>
          </a:p>
        </p:txBody>
      </p:sp>
      <p:sp>
        <p:nvSpPr>
          <p:cNvPr id="6" name="Text 3"/>
          <p:cNvSpPr/>
          <p:nvPr/>
        </p:nvSpPr>
        <p:spPr>
          <a:xfrm>
            <a:off x="548640" y="4160520"/>
            <a:ext cx="9601200" cy="54864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Facilitator-led: the full SDLC, end to end</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1109441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From Plan to Live URL</a:t>
            </a:r>
            <a:endParaRPr lang="en-US" sz="3000" dirty="0"/>
          </a:p>
        </p:txBody>
      </p:sp>
      <p:sp>
        <p:nvSpPr>
          <p:cNvPr id="3" name="Shape 1"/>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4" name="Shape 2"/>
          <p:cNvSpPr/>
          <p:nvPr/>
        </p:nvSpPr>
        <p:spPr>
          <a:xfrm>
            <a:off x="548640" y="2743200"/>
            <a:ext cx="1417320" cy="1188720"/>
          </a:xfrm>
          <a:prstGeom prst="roundRect">
            <a:avLst>
              <a:gd name="adj" fmla="val 6154"/>
            </a:avLst>
          </a:prstGeom>
          <a:solidFill>
            <a:srgbClr val="F4F7FC"/>
          </a:solidFill>
          <a:ln w="12700">
            <a:solidFill>
              <a:srgbClr val="E1E7F2"/>
            </a:solidFill>
            <a:prstDash val="solid"/>
          </a:ln>
        </p:spPr>
        <p:txBody>
          <a:bodyPr/>
          <a:lstStyle/>
          <a:p>
            <a:endParaRPr lang="en-US"/>
          </a:p>
        </p:txBody>
      </p:sp>
      <p:sp>
        <p:nvSpPr>
          <p:cNvPr id="5" name="Text 3"/>
          <p:cNvSpPr/>
          <p:nvPr/>
        </p:nvSpPr>
        <p:spPr>
          <a:xfrm>
            <a:off x="548640" y="2359152"/>
            <a:ext cx="141732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603504" y="2743200"/>
            <a:ext cx="1307592" cy="118872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Plan</a:t>
            </a:r>
            <a:endParaRPr lang="en-US" sz="1200" dirty="0"/>
          </a:p>
        </p:txBody>
      </p:sp>
      <p:sp>
        <p:nvSpPr>
          <p:cNvPr id="7" name="Text 5"/>
          <p:cNvSpPr/>
          <p:nvPr/>
        </p:nvSpPr>
        <p:spPr>
          <a:xfrm>
            <a:off x="1965960" y="2743200"/>
            <a:ext cx="195529" cy="1188720"/>
          </a:xfrm>
          <a:prstGeom prst="rect">
            <a:avLst/>
          </a:prstGeom>
          <a:noFill/>
          <a:ln/>
        </p:spPr>
        <p:txBody>
          <a:bodyPr wrap="square" rtlCol="0" anchor="ctr"/>
          <a:lstStyle/>
          <a:p>
            <a:pPr marL="0" indent="0" algn="ctr">
              <a:buNone/>
            </a:pPr>
            <a:r>
              <a:rPr lang="en-US" sz="1800" dirty="0">
                <a:solidFill>
                  <a:srgbClr val="6E7B91"/>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161489" y="2743200"/>
            <a:ext cx="1417320" cy="1188720"/>
          </a:xfrm>
          <a:prstGeom prst="roundRect">
            <a:avLst>
              <a:gd name="adj" fmla="val 6154"/>
            </a:avLst>
          </a:prstGeom>
          <a:solidFill>
            <a:srgbClr val="F4F7FC"/>
          </a:solidFill>
          <a:ln w="12700">
            <a:solidFill>
              <a:srgbClr val="E1E7F2"/>
            </a:solidFill>
            <a:prstDash val="solid"/>
          </a:ln>
        </p:spPr>
        <p:txBody>
          <a:bodyPr/>
          <a:lstStyle/>
          <a:p>
            <a:endParaRPr lang="en-US"/>
          </a:p>
        </p:txBody>
      </p:sp>
      <p:sp>
        <p:nvSpPr>
          <p:cNvPr id="9" name="Text 7"/>
          <p:cNvSpPr/>
          <p:nvPr/>
        </p:nvSpPr>
        <p:spPr>
          <a:xfrm>
            <a:off x="2161489" y="2359152"/>
            <a:ext cx="141732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2216353" y="2743200"/>
            <a:ext cx="1307592" cy="118872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Scaffold</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(Vite)</a:t>
            </a:r>
            <a:endParaRPr lang="en-US" sz="1200" dirty="0"/>
          </a:p>
        </p:txBody>
      </p:sp>
      <p:sp>
        <p:nvSpPr>
          <p:cNvPr id="11" name="Text 9"/>
          <p:cNvSpPr/>
          <p:nvPr/>
        </p:nvSpPr>
        <p:spPr>
          <a:xfrm>
            <a:off x="3578809" y="2743200"/>
            <a:ext cx="195529" cy="1188720"/>
          </a:xfrm>
          <a:prstGeom prst="rect">
            <a:avLst/>
          </a:prstGeom>
          <a:noFill/>
          <a:ln/>
        </p:spPr>
        <p:txBody>
          <a:bodyPr wrap="square" rtlCol="0" anchor="ctr"/>
          <a:lstStyle/>
          <a:p>
            <a:pPr marL="0" indent="0" algn="ctr">
              <a:buNone/>
            </a:pPr>
            <a:r>
              <a:rPr lang="en-US" sz="1800" dirty="0">
                <a:solidFill>
                  <a:srgbClr val="6E7B91"/>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3774338" y="2743200"/>
            <a:ext cx="1417320" cy="1188720"/>
          </a:xfrm>
          <a:prstGeom prst="roundRect">
            <a:avLst>
              <a:gd name="adj" fmla="val 6154"/>
            </a:avLst>
          </a:prstGeom>
          <a:solidFill>
            <a:srgbClr val="F4F7FC"/>
          </a:solidFill>
          <a:ln w="12700">
            <a:solidFill>
              <a:srgbClr val="E1E7F2"/>
            </a:solidFill>
            <a:prstDash val="solid"/>
          </a:ln>
        </p:spPr>
        <p:txBody>
          <a:bodyPr/>
          <a:lstStyle/>
          <a:p>
            <a:endParaRPr lang="en-US"/>
          </a:p>
        </p:txBody>
      </p:sp>
      <p:sp>
        <p:nvSpPr>
          <p:cNvPr id="13" name="Text 11"/>
          <p:cNvSpPr/>
          <p:nvPr/>
        </p:nvSpPr>
        <p:spPr>
          <a:xfrm>
            <a:off x="3774338" y="2359152"/>
            <a:ext cx="141732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3829202" y="2743200"/>
            <a:ext cx="1307592" cy="118872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Vibe</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Code</a:t>
            </a:r>
            <a:endParaRPr lang="en-US" sz="1200" dirty="0"/>
          </a:p>
        </p:txBody>
      </p:sp>
      <p:sp>
        <p:nvSpPr>
          <p:cNvPr id="15" name="Text 13"/>
          <p:cNvSpPr/>
          <p:nvPr/>
        </p:nvSpPr>
        <p:spPr>
          <a:xfrm>
            <a:off x="5191658" y="2743200"/>
            <a:ext cx="195529" cy="1188720"/>
          </a:xfrm>
          <a:prstGeom prst="rect">
            <a:avLst/>
          </a:prstGeom>
          <a:noFill/>
          <a:ln/>
        </p:spPr>
        <p:txBody>
          <a:bodyPr wrap="square" rtlCol="0" anchor="ctr"/>
          <a:lstStyle/>
          <a:p>
            <a:pPr marL="0" indent="0" algn="ctr">
              <a:buNone/>
            </a:pPr>
            <a:r>
              <a:rPr lang="en-US" sz="1800" dirty="0">
                <a:solidFill>
                  <a:srgbClr val="6E7B91"/>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387188" y="2743200"/>
            <a:ext cx="1417320" cy="1188720"/>
          </a:xfrm>
          <a:prstGeom prst="roundRect">
            <a:avLst>
              <a:gd name="adj" fmla="val 6154"/>
            </a:avLst>
          </a:prstGeom>
          <a:solidFill>
            <a:srgbClr val="F4F7FC"/>
          </a:solidFill>
          <a:ln w="12700">
            <a:solidFill>
              <a:srgbClr val="E1E7F2"/>
            </a:solidFill>
            <a:prstDash val="solid"/>
          </a:ln>
        </p:spPr>
        <p:txBody>
          <a:bodyPr/>
          <a:lstStyle/>
          <a:p>
            <a:endParaRPr lang="en-US"/>
          </a:p>
        </p:txBody>
      </p:sp>
      <p:sp>
        <p:nvSpPr>
          <p:cNvPr id="17" name="Text 15"/>
          <p:cNvSpPr/>
          <p:nvPr/>
        </p:nvSpPr>
        <p:spPr>
          <a:xfrm>
            <a:off x="5387188" y="2359152"/>
            <a:ext cx="141732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5442052" y="2743200"/>
            <a:ext cx="1307592" cy="118872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Run</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Tests</a:t>
            </a:r>
            <a:endParaRPr lang="en-US" sz="1200" dirty="0"/>
          </a:p>
        </p:txBody>
      </p:sp>
      <p:sp>
        <p:nvSpPr>
          <p:cNvPr id="19" name="Text 17"/>
          <p:cNvSpPr/>
          <p:nvPr/>
        </p:nvSpPr>
        <p:spPr>
          <a:xfrm>
            <a:off x="6804508" y="2743200"/>
            <a:ext cx="195529" cy="1188720"/>
          </a:xfrm>
          <a:prstGeom prst="rect">
            <a:avLst/>
          </a:prstGeom>
          <a:noFill/>
          <a:ln/>
        </p:spPr>
        <p:txBody>
          <a:bodyPr wrap="square" rtlCol="0" anchor="ctr"/>
          <a:lstStyle/>
          <a:p>
            <a:pPr marL="0" indent="0" algn="ctr">
              <a:buNone/>
            </a:pPr>
            <a:r>
              <a:rPr lang="en-US" sz="1800" dirty="0">
                <a:solidFill>
                  <a:srgbClr val="6E7B91"/>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7000037" y="2743200"/>
            <a:ext cx="1417320" cy="1188720"/>
          </a:xfrm>
          <a:prstGeom prst="roundRect">
            <a:avLst>
              <a:gd name="adj" fmla="val 6154"/>
            </a:avLst>
          </a:prstGeom>
          <a:solidFill>
            <a:srgbClr val="F4F7FC"/>
          </a:solidFill>
          <a:ln w="12700">
            <a:solidFill>
              <a:srgbClr val="E1E7F2"/>
            </a:solidFill>
            <a:prstDash val="solid"/>
          </a:ln>
        </p:spPr>
        <p:txBody>
          <a:bodyPr/>
          <a:lstStyle/>
          <a:p>
            <a:endParaRPr lang="en-US"/>
          </a:p>
        </p:txBody>
      </p:sp>
      <p:sp>
        <p:nvSpPr>
          <p:cNvPr id="21" name="Text 19"/>
          <p:cNvSpPr/>
          <p:nvPr/>
        </p:nvSpPr>
        <p:spPr>
          <a:xfrm>
            <a:off x="7000037" y="2359152"/>
            <a:ext cx="141732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7054901" y="2743200"/>
            <a:ext cx="1307592" cy="118872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Git Push</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(Azure DevOps)</a:t>
            </a:r>
            <a:endParaRPr lang="en-US" sz="1200" dirty="0"/>
          </a:p>
        </p:txBody>
      </p:sp>
      <p:sp>
        <p:nvSpPr>
          <p:cNvPr id="23" name="Text 21"/>
          <p:cNvSpPr/>
          <p:nvPr/>
        </p:nvSpPr>
        <p:spPr>
          <a:xfrm>
            <a:off x="8417357" y="2743200"/>
            <a:ext cx="195529" cy="1188720"/>
          </a:xfrm>
          <a:prstGeom prst="rect">
            <a:avLst/>
          </a:prstGeom>
          <a:noFill/>
          <a:ln/>
        </p:spPr>
        <p:txBody>
          <a:bodyPr wrap="square" rtlCol="0" anchor="ctr"/>
          <a:lstStyle/>
          <a:p>
            <a:pPr marL="0" indent="0" algn="ctr">
              <a:buNone/>
            </a:pPr>
            <a:r>
              <a:rPr lang="en-US" sz="1800" dirty="0">
                <a:solidFill>
                  <a:srgbClr val="6E7B91"/>
                </a:solidFill>
                <a:latin typeface="Calibri" pitchFamily="34" charset="0"/>
                <a:ea typeface="Calibri" pitchFamily="34" charset="-122"/>
                <a:cs typeface="Calibri" pitchFamily="34" charset="-120"/>
              </a:rPr>
              <a:t>→</a:t>
            </a:r>
            <a:endParaRPr lang="en-US" sz="1800" dirty="0"/>
          </a:p>
        </p:txBody>
      </p:sp>
      <p:sp>
        <p:nvSpPr>
          <p:cNvPr id="24" name="Shape 22"/>
          <p:cNvSpPr/>
          <p:nvPr/>
        </p:nvSpPr>
        <p:spPr>
          <a:xfrm>
            <a:off x="8612886" y="2743200"/>
            <a:ext cx="1417320" cy="1188720"/>
          </a:xfrm>
          <a:prstGeom prst="roundRect">
            <a:avLst>
              <a:gd name="adj" fmla="val 6154"/>
            </a:avLst>
          </a:prstGeom>
          <a:solidFill>
            <a:srgbClr val="F4F7FC"/>
          </a:solidFill>
          <a:ln w="12700">
            <a:solidFill>
              <a:srgbClr val="E1E7F2"/>
            </a:solidFill>
            <a:prstDash val="solid"/>
          </a:ln>
        </p:spPr>
        <p:txBody>
          <a:bodyPr/>
          <a:lstStyle/>
          <a:p>
            <a:endParaRPr lang="en-US"/>
          </a:p>
        </p:txBody>
      </p:sp>
      <p:sp>
        <p:nvSpPr>
          <p:cNvPr id="25" name="Text 23"/>
          <p:cNvSpPr/>
          <p:nvPr/>
        </p:nvSpPr>
        <p:spPr>
          <a:xfrm>
            <a:off x="8612886" y="2359152"/>
            <a:ext cx="141732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6</a:t>
            </a:r>
            <a:endParaRPr lang="en-US" sz="1300" dirty="0"/>
          </a:p>
        </p:txBody>
      </p:sp>
      <p:sp>
        <p:nvSpPr>
          <p:cNvPr id="26" name="Text 24"/>
          <p:cNvSpPr/>
          <p:nvPr/>
        </p:nvSpPr>
        <p:spPr>
          <a:xfrm>
            <a:off x="8667750" y="2743200"/>
            <a:ext cx="1307592" cy="1188720"/>
          </a:xfrm>
          <a:prstGeom prst="rect">
            <a:avLst/>
          </a:prstGeom>
          <a:noFill/>
          <a:ln/>
        </p:spPr>
        <p:txBody>
          <a:bodyPr wrap="square"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CI Tests</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(Pipeline)</a:t>
            </a:r>
            <a:endParaRPr lang="en-US" sz="1200" dirty="0"/>
          </a:p>
        </p:txBody>
      </p:sp>
      <p:sp>
        <p:nvSpPr>
          <p:cNvPr id="27" name="Text 25"/>
          <p:cNvSpPr/>
          <p:nvPr/>
        </p:nvSpPr>
        <p:spPr>
          <a:xfrm>
            <a:off x="10030206" y="2743200"/>
            <a:ext cx="195529" cy="1188720"/>
          </a:xfrm>
          <a:prstGeom prst="rect">
            <a:avLst/>
          </a:prstGeom>
          <a:noFill/>
          <a:ln/>
        </p:spPr>
        <p:txBody>
          <a:bodyPr wrap="square" rtlCol="0" anchor="ctr"/>
          <a:lstStyle/>
          <a:p>
            <a:pPr marL="0" indent="0" algn="ctr">
              <a:buNone/>
            </a:pPr>
            <a:r>
              <a:rPr lang="en-US" sz="1800" dirty="0">
                <a:solidFill>
                  <a:srgbClr val="6E7B91"/>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10225735" y="2743200"/>
            <a:ext cx="1417320" cy="1188720"/>
          </a:xfrm>
          <a:prstGeom prst="roundRect">
            <a:avLst>
              <a:gd name="adj" fmla="val 6154"/>
            </a:avLst>
          </a:prstGeom>
          <a:solidFill>
            <a:srgbClr val="00C9A7"/>
          </a:solidFill>
          <a:ln w="12700">
            <a:solidFill>
              <a:srgbClr val="00C9A7"/>
            </a:solidFill>
            <a:prstDash val="solid"/>
          </a:ln>
        </p:spPr>
        <p:txBody>
          <a:bodyPr/>
          <a:lstStyle/>
          <a:p>
            <a:endParaRPr lang="en-US"/>
          </a:p>
        </p:txBody>
      </p:sp>
      <p:sp>
        <p:nvSpPr>
          <p:cNvPr id="29" name="Text 27"/>
          <p:cNvSpPr/>
          <p:nvPr/>
        </p:nvSpPr>
        <p:spPr>
          <a:xfrm>
            <a:off x="10225735" y="2359152"/>
            <a:ext cx="1417320" cy="32004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7</a:t>
            </a:r>
            <a:endParaRPr lang="en-US" sz="1300" dirty="0"/>
          </a:p>
        </p:txBody>
      </p:sp>
      <p:sp>
        <p:nvSpPr>
          <p:cNvPr id="30" name="Text 28"/>
          <p:cNvSpPr/>
          <p:nvPr/>
        </p:nvSpPr>
        <p:spPr>
          <a:xfrm>
            <a:off x="10280599" y="2743200"/>
            <a:ext cx="1307592" cy="11887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Amplify</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Deploy</a:t>
            </a:r>
            <a:endParaRPr lang="en-US" sz="1200" dirty="0"/>
          </a:p>
        </p:txBody>
      </p:sp>
      <p:sp>
        <p:nvSpPr>
          <p:cNvPr id="31" name="Text 29"/>
          <p:cNvSpPr/>
          <p:nvPr/>
        </p:nvSpPr>
        <p:spPr>
          <a:xfrm>
            <a:off x="548640" y="4572000"/>
            <a:ext cx="11094415" cy="640080"/>
          </a:xfrm>
          <a:prstGeom prst="rect">
            <a:avLst/>
          </a:prstGeom>
          <a:noFill/>
          <a:ln/>
        </p:spPr>
        <p:txBody>
          <a:bodyPr wrap="square" rtlCol="0" anchor="ctr"/>
          <a:lstStyle/>
          <a:p>
            <a:pPr marL="0" indent="0">
              <a:buNone/>
            </a:pPr>
            <a:r>
              <a:rPr lang="en-US" sz="1400" i="1" dirty="0">
                <a:solidFill>
                  <a:srgbClr val="6E7B91"/>
                </a:solidFill>
                <a:latin typeface="Calibri" pitchFamily="34" charset="0"/>
                <a:ea typeface="Calibri" pitchFamily="34" charset="-122"/>
                <a:cs typeface="Calibri" pitchFamily="34" charset="-120"/>
              </a:rPr>
              <a:t>Facilitator tip: pre-provision the Amplify ↔ repo connection ahead of time so this step is a quick demo, not a live debugging session.</a:t>
            </a:r>
            <a:endParaRPr lang="en-US" sz="1400" dirty="0"/>
          </a:p>
        </p:txBody>
      </p:sp>
      <p:sp>
        <p:nvSpPr>
          <p:cNvPr id="32" name="Text 30"/>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33" name="Text 31"/>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Hour 2 — Walkthrough Detail</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554480"/>
            <a:ext cx="11094415" cy="4480560"/>
          </a:xfrm>
          <a:prstGeom prst="rect">
            <a:avLst/>
          </a:prstGeom>
          <a:noFill/>
          <a:ln/>
        </p:spPr>
        <p:txBody>
          <a:bodyPr wrap="square" rtlCol="0" anchor="t"/>
          <a:lstStyle/>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Describe the portal feature in plain language; have Claude draft a short plan before writing code</a:t>
            </a:r>
            <a:endParaRPr lang="en-US" sz="1500" dirty="0"/>
          </a:p>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npm create vite@latest, npm install, first npm run dev to confirm it runs locally</a:t>
            </a:r>
            <a:endParaRPr lang="en-US" sz="1500" dirty="0"/>
          </a:p>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Set up CLAUDE.md and apply the brand guideline skill so components match Champion Motors styling</a:t>
            </a:r>
            <a:endParaRPr lang="en-US" sz="1500" dirty="0"/>
          </a:p>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Prompt Claude to build 1–2 features live — review diffs as they land, don't just accept blindly</a:t>
            </a:r>
            <a:endParaRPr lang="en-US" sz="1500" dirty="0"/>
          </a:p>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Add a few Vitest + React Testing Library tests, run npm test locally to confirm they pass</a:t>
            </a:r>
            <a:endParaRPr lang="en-US" sz="1500" dirty="0"/>
          </a:p>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git init / add / commit, then push to the Azure DevOps repo</a:t>
            </a:r>
            <a:endParaRPr lang="en-US" sz="1500" dirty="0"/>
          </a:p>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Azure Pipelines runs the same test suite automatically on push — show the pipeline going green</a:t>
            </a:r>
            <a:endParaRPr lang="en-US" sz="1500" dirty="0"/>
          </a:p>
          <a:p>
            <a:pPr marL="228600" indent="-228600">
              <a:spcAft>
                <a:spcPts val="1100"/>
              </a:spcAft>
              <a:buSzPct val="100000"/>
              <a:buChar char="•"/>
            </a:pPr>
            <a:r>
              <a:rPr lang="en-US" sz="1500" dirty="0">
                <a:solidFill>
                  <a:srgbClr val="222834"/>
                </a:solidFill>
                <a:latin typeface="Calibri" pitchFamily="34" charset="0"/>
                <a:ea typeface="Calibri" pitchFamily="34" charset="-122"/>
                <a:cs typeface="Calibri" pitchFamily="34" charset="-120"/>
              </a:rPr>
              <a:t>Connect Amplify, trigger a build, and open the live URL together</a:t>
            </a:r>
            <a:endParaRPr lang="en-US" sz="1500" dirty="0"/>
          </a:p>
        </p:txBody>
      </p:sp>
      <p:sp>
        <p:nvSpPr>
          <p:cNvPr id="7" name="Text 4"/>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8" name="Text 5"/>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Testing Locally: Vitest + React Testing Library</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417320"/>
            <a:ext cx="585216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INSTALL &amp; CONFIGURE</a:t>
            </a:r>
            <a:endParaRPr lang="en-US" sz="1200" dirty="0"/>
          </a:p>
        </p:txBody>
      </p:sp>
      <p:sp>
        <p:nvSpPr>
          <p:cNvPr id="7" name="Shape 4"/>
          <p:cNvSpPr/>
          <p:nvPr/>
        </p:nvSpPr>
        <p:spPr>
          <a:xfrm>
            <a:off x="548640" y="1737360"/>
            <a:ext cx="5852160" cy="1051560"/>
          </a:xfrm>
          <a:prstGeom prst="roundRect">
            <a:avLst>
              <a:gd name="adj" fmla="val 6957"/>
            </a:avLst>
          </a:prstGeom>
          <a:solidFill>
            <a:srgbClr val="1B2233"/>
          </a:solidFill>
          <a:ln w="12700">
            <a:solidFill>
              <a:srgbClr val="1B2233"/>
            </a:solidFill>
            <a:prstDash val="solid"/>
          </a:ln>
        </p:spPr>
        <p:txBody>
          <a:bodyPr/>
          <a:lstStyle/>
          <a:p>
            <a:endParaRPr lang="en-US"/>
          </a:p>
        </p:txBody>
      </p:sp>
      <p:sp>
        <p:nvSpPr>
          <p:cNvPr id="8" name="Text 5"/>
          <p:cNvSpPr/>
          <p:nvPr/>
        </p:nvSpPr>
        <p:spPr>
          <a:xfrm>
            <a:off x="749808" y="1865376"/>
            <a:ext cx="5449824" cy="7955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npm install -D vitest jsdom \</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@testing-library/react \</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@testing-library/jest-dom</a:t>
            </a:r>
            <a:endParaRPr lang="en-US" sz="1300" dirty="0"/>
          </a:p>
        </p:txBody>
      </p:sp>
      <p:sp>
        <p:nvSpPr>
          <p:cNvPr id="9" name="Text 6"/>
          <p:cNvSpPr/>
          <p:nvPr/>
        </p:nvSpPr>
        <p:spPr>
          <a:xfrm>
            <a:off x="548640" y="2926080"/>
            <a:ext cx="5852160" cy="320040"/>
          </a:xfrm>
          <a:prstGeom prst="rect">
            <a:avLst/>
          </a:prstGeom>
          <a:noFill/>
          <a:ln/>
        </p:spPr>
        <p:txBody>
          <a:bodyPr wrap="square" rtlCol="0" anchor="ctr"/>
          <a:lstStyle/>
          <a:p>
            <a:pPr marL="0" indent="0">
              <a:buNone/>
            </a:pPr>
            <a:r>
              <a:rPr lang="en-US" sz="1350" dirty="0">
                <a:solidFill>
                  <a:srgbClr val="222834"/>
                </a:solidFill>
                <a:latin typeface="Calibri" pitchFamily="34" charset="0"/>
                <a:ea typeface="Calibri" pitchFamily="34" charset="-122"/>
                <a:cs typeface="Calibri" pitchFamily="34" charset="-120"/>
              </a:rPr>
              <a:t>Add a script to package.json:</a:t>
            </a:r>
            <a:endParaRPr lang="en-US" sz="1350" dirty="0"/>
          </a:p>
        </p:txBody>
      </p:sp>
      <p:sp>
        <p:nvSpPr>
          <p:cNvPr id="10" name="Shape 7"/>
          <p:cNvSpPr/>
          <p:nvPr/>
        </p:nvSpPr>
        <p:spPr>
          <a:xfrm>
            <a:off x="548640" y="3291840"/>
            <a:ext cx="5852160" cy="914400"/>
          </a:xfrm>
          <a:prstGeom prst="roundRect">
            <a:avLst>
              <a:gd name="adj" fmla="val 8000"/>
            </a:avLst>
          </a:prstGeom>
          <a:solidFill>
            <a:srgbClr val="1B2233"/>
          </a:solidFill>
          <a:ln w="12700">
            <a:solidFill>
              <a:srgbClr val="1B2233"/>
            </a:solidFill>
            <a:prstDash val="solid"/>
          </a:ln>
        </p:spPr>
        <p:txBody>
          <a:bodyPr/>
          <a:lstStyle/>
          <a:p>
            <a:endParaRPr lang="en-US"/>
          </a:p>
        </p:txBody>
      </p:sp>
      <p:sp>
        <p:nvSpPr>
          <p:cNvPr id="11" name="Text 8"/>
          <p:cNvSpPr/>
          <p:nvPr/>
        </p:nvSpPr>
        <p:spPr>
          <a:xfrm>
            <a:off x="749808" y="3419856"/>
            <a:ext cx="5449824" cy="65836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"scripts": {</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"test": "vitest run"</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a:t>
            </a:r>
            <a:endParaRPr lang="en-US" sz="1300" dirty="0"/>
          </a:p>
        </p:txBody>
      </p:sp>
      <p:sp>
        <p:nvSpPr>
          <p:cNvPr id="12" name="Text 9"/>
          <p:cNvSpPr/>
          <p:nvPr/>
        </p:nvSpPr>
        <p:spPr>
          <a:xfrm>
            <a:off x="548640" y="4343400"/>
            <a:ext cx="5852160" cy="320040"/>
          </a:xfrm>
          <a:prstGeom prst="rect">
            <a:avLst/>
          </a:prstGeom>
          <a:noFill/>
          <a:ln/>
        </p:spPr>
        <p:txBody>
          <a:bodyPr wrap="square" rtlCol="0" anchor="ctr"/>
          <a:lstStyle/>
          <a:p>
            <a:pPr marL="0" indent="0">
              <a:buNone/>
            </a:pPr>
            <a:r>
              <a:rPr lang="en-US" sz="1350" dirty="0">
                <a:solidFill>
                  <a:srgbClr val="222834"/>
                </a:solidFill>
                <a:latin typeface="Calibri" pitchFamily="34" charset="0"/>
                <a:ea typeface="Calibri" pitchFamily="34" charset="-122"/>
                <a:cs typeface="Calibri" pitchFamily="34" charset="-120"/>
              </a:rPr>
              <a:t>Run it alongside the dev server:</a:t>
            </a:r>
            <a:endParaRPr lang="en-US" sz="1350" dirty="0"/>
          </a:p>
        </p:txBody>
      </p:sp>
      <p:sp>
        <p:nvSpPr>
          <p:cNvPr id="13" name="Shape 10"/>
          <p:cNvSpPr/>
          <p:nvPr/>
        </p:nvSpPr>
        <p:spPr>
          <a:xfrm>
            <a:off x="548640" y="4709160"/>
            <a:ext cx="585216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14" name="Text 11"/>
          <p:cNvSpPr/>
          <p:nvPr/>
        </p:nvSpPr>
        <p:spPr>
          <a:xfrm>
            <a:off x="749808" y="4837176"/>
            <a:ext cx="544982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npm test</a:t>
            </a:r>
            <a:endParaRPr lang="en-US" sz="1300" dirty="0"/>
          </a:p>
        </p:txBody>
      </p:sp>
      <p:sp>
        <p:nvSpPr>
          <p:cNvPr id="15" name="Shape 12"/>
          <p:cNvSpPr/>
          <p:nvPr/>
        </p:nvSpPr>
        <p:spPr>
          <a:xfrm>
            <a:off x="6675120" y="1417320"/>
            <a:ext cx="4937760" cy="4800600"/>
          </a:xfrm>
          <a:prstGeom prst="roundRect">
            <a:avLst>
              <a:gd name="adj" fmla="val 1524"/>
            </a:avLst>
          </a:prstGeom>
          <a:solidFill>
            <a:srgbClr val="F4F7FC"/>
          </a:solidFill>
          <a:ln w="12700">
            <a:solidFill>
              <a:srgbClr val="E1E7F2"/>
            </a:solidFill>
            <a:prstDash val="solid"/>
          </a:ln>
        </p:spPr>
        <p:txBody>
          <a:bodyPr/>
          <a:lstStyle/>
          <a:p>
            <a:endParaRPr lang="en-US"/>
          </a:p>
        </p:txBody>
      </p:sp>
      <p:sp>
        <p:nvSpPr>
          <p:cNvPr id="16" name="Text 13"/>
          <p:cNvSpPr/>
          <p:nvPr/>
        </p:nvSpPr>
        <p:spPr>
          <a:xfrm>
            <a:off x="6949440" y="1645920"/>
            <a:ext cx="420624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WHY THIS MATTERS</a:t>
            </a:r>
            <a:endParaRPr lang="en-US" sz="1200" dirty="0"/>
          </a:p>
        </p:txBody>
      </p:sp>
      <p:sp>
        <p:nvSpPr>
          <p:cNvPr id="17" name="Text 14"/>
          <p:cNvSpPr/>
          <p:nvPr/>
        </p:nvSpPr>
        <p:spPr>
          <a:xfrm>
            <a:off x="6949440" y="2103120"/>
            <a:ext cx="4389120" cy="3566160"/>
          </a:xfrm>
          <a:prstGeom prst="rect">
            <a:avLst/>
          </a:prstGeom>
          <a:noFill/>
          <a:ln/>
        </p:spPr>
        <p:txBody>
          <a:bodyPr wrap="square" rtlCol="0" anchor="t"/>
          <a:lstStyle/>
          <a:p>
            <a:pPr marL="228600" indent="-228600">
              <a:spcAft>
                <a:spcPts val="1600"/>
              </a:spcAft>
              <a:buSzPct val="100000"/>
              <a:buChar char="•"/>
            </a:pPr>
            <a:r>
              <a:rPr lang="en-US" sz="1400" dirty="0">
                <a:solidFill>
                  <a:srgbClr val="222834"/>
                </a:solidFill>
                <a:latin typeface="Calibri" pitchFamily="34" charset="0"/>
                <a:ea typeface="Calibri" pitchFamily="34" charset="-122"/>
                <a:cs typeface="Calibri" pitchFamily="34" charset="-120"/>
              </a:rPr>
              <a:t>Catches regressions before they ever reach Azure DevOps</a:t>
            </a:r>
            <a:endParaRPr lang="en-US" sz="1400" dirty="0"/>
          </a:p>
          <a:p>
            <a:pPr marL="228600" indent="-228600">
              <a:spcAft>
                <a:spcPts val="1600"/>
              </a:spcAft>
              <a:buSzPct val="100000"/>
              <a:buChar char="•"/>
            </a:pPr>
            <a:r>
              <a:rPr lang="en-US" sz="1400" dirty="0">
                <a:solidFill>
                  <a:srgbClr val="222834"/>
                </a:solidFill>
                <a:latin typeface="Calibri" pitchFamily="34" charset="0"/>
                <a:ea typeface="Calibri" pitchFamily="34" charset="-122"/>
                <a:cs typeface="Calibri" pitchFamily="34" charset="-120"/>
              </a:rPr>
              <a:t>Fast feedback loop — runs in seconds, no clicking through the UI by hand</a:t>
            </a:r>
            <a:endParaRPr lang="en-US" sz="1400" dirty="0"/>
          </a:p>
          <a:p>
            <a:pPr marL="228600" indent="-228600">
              <a:spcAft>
                <a:spcPts val="1600"/>
              </a:spcAft>
              <a:buSzPct val="100000"/>
              <a:buChar char="•"/>
            </a:pPr>
            <a:r>
              <a:rPr lang="en-US" sz="1400" dirty="0">
                <a:solidFill>
                  <a:srgbClr val="222834"/>
                </a:solidFill>
                <a:latin typeface="Calibri" pitchFamily="34" charset="0"/>
                <a:ea typeface="Calibri" pitchFamily="34" charset="-122"/>
                <a:cs typeface="Calibri" pitchFamily="34" charset="-120"/>
              </a:rPr>
              <a:t>The exact same suite runs locally and in CI, so “works on my machine” failures show up before you push</a:t>
            </a:r>
            <a:endParaRPr lang="en-US" sz="1400" dirty="0"/>
          </a:p>
        </p:txBody>
      </p:sp>
      <p:sp>
        <p:nvSpPr>
          <p:cNvPr id="18" name="Text 15"/>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19" name="Text 16"/>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5 Example Component Tests</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371600"/>
            <a:ext cx="11094415" cy="365760"/>
          </a:xfrm>
          <a:prstGeom prst="rect">
            <a:avLst/>
          </a:prstGeom>
          <a:noFill/>
          <a:ln/>
        </p:spPr>
        <p:txBody>
          <a:bodyPr wrap="square" rtlCol="0" anchor="ctr"/>
          <a:lstStyle/>
          <a:p>
            <a:pPr marL="0" indent="0">
              <a:buNone/>
            </a:pPr>
            <a:r>
              <a:rPr lang="en-US" sz="1350" i="1" dirty="0">
                <a:solidFill>
                  <a:srgbClr val="6E7B91"/>
                </a:solidFill>
                <a:latin typeface="Calibri" pitchFamily="34" charset="0"/>
                <a:ea typeface="Calibri" pitchFamily="34" charset="-122"/>
                <a:cs typeface="Calibri" pitchFamily="34" charset="-120"/>
              </a:rPr>
              <a:t>Button.test.jsx — renders, click, and props, the three things worth testing on almost any component</a:t>
            </a:r>
            <a:endParaRPr lang="en-US" sz="1350" dirty="0"/>
          </a:p>
        </p:txBody>
      </p:sp>
      <p:sp>
        <p:nvSpPr>
          <p:cNvPr id="7" name="Shape 4"/>
          <p:cNvSpPr/>
          <p:nvPr/>
        </p:nvSpPr>
        <p:spPr>
          <a:xfrm>
            <a:off x="548640" y="1828800"/>
            <a:ext cx="5349240" cy="4434840"/>
          </a:xfrm>
          <a:prstGeom prst="roundRect">
            <a:avLst>
              <a:gd name="adj" fmla="val 1649"/>
            </a:avLst>
          </a:prstGeom>
          <a:solidFill>
            <a:srgbClr val="1B2233"/>
          </a:solidFill>
          <a:ln w="12700">
            <a:solidFill>
              <a:srgbClr val="1B2233"/>
            </a:solidFill>
            <a:prstDash val="solid"/>
          </a:ln>
        </p:spPr>
        <p:txBody>
          <a:bodyPr/>
          <a:lstStyle/>
          <a:p>
            <a:endParaRPr lang="en-US"/>
          </a:p>
        </p:txBody>
      </p:sp>
      <p:sp>
        <p:nvSpPr>
          <p:cNvPr id="8" name="Text 5"/>
          <p:cNvSpPr/>
          <p:nvPr/>
        </p:nvSpPr>
        <p:spPr>
          <a:xfrm>
            <a:off x="749808" y="1956816"/>
            <a:ext cx="4946904" cy="4178808"/>
          </a:xfrm>
          <a:prstGeom prst="rect">
            <a:avLst/>
          </a:prstGeom>
          <a:noFill/>
          <a:ln/>
        </p:spPr>
        <p:txBody>
          <a:bodyPr wrap="square" rtlCol="0" anchor="t"/>
          <a:lstStyle/>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import { render, screen, fireEvent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from "@testing-library/react";</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import { describe, it, expect, vi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from "vitest";</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import Button from "./Button";</a:t>
            </a:r>
            <a:endParaRPr lang="en-US" sz="1200" dirty="0"/>
          </a:p>
          <a:p>
            <a:pPr marL="0" indent="0">
              <a:lnSpc>
                <a:spcPct val="100000"/>
              </a:lnSpc>
              <a:buNone/>
            </a:pP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const setup = (props) =&gt;</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render(&lt;Button label="Save" {...props} /&gt;);</a:t>
            </a:r>
            <a:endParaRPr lang="en-US" sz="1200" dirty="0"/>
          </a:p>
          <a:p>
            <a:pPr marL="0" indent="0">
              <a:lnSpc>
                <a:spcPct val="100000"/>
              </a:lnSpc>
              <a:buNone/>
            </a:pP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describe("Button", () =&gt;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it("1. renders the label", () =&gt;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setup();</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expect(screen.getByText("Save"))</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.toBeInTheDocument();</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it("2. fires onClick when clicked", () =&gt;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const onClick = vi.fn();</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setup({ onClick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fireEvent.click(screen.getByText("Save"));</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expect(onClick).toHaveBeenCalledTimes(1);</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a:t>
            </a:r>
            <a:endParaRPr lang="en-US" sz="1200" dirty="0"/>
          </a:p>
        </p:txBody>
      </p:sp>
      <p:sp>
        <p:nvSpPr>
          <p:cNvPr id="9" name="Shape 6"/>
          <p:cNvSpPr/>
          <p:nvPr/>
        </p:nvSpPr>
        <p:spPr>
          <a:xfrm>
            <a:off x="6263640" y="1828800"/>
            <a:ext cx="5349240" cy="4434840"/>
          </a:xfrm>
          <a:prstGeom prst="roundRect">
            <a:avLst>
              <a:gd name="adj" fmla="val 1649"/>
            </a:avLst>
          </a:prstGeom>
          <a:solidFill>
            <a:srgbClr val="1B2233"/>
          </a:solidFill>
          <a:ln w="12700">
            <a:solidFill>
              <a:srgbClr val="1B2233"/>
            </a:solidFill>
            <a:prstDash val="solid"/>
          </a:ln>
        </p:spPr>
        <p:txBody>
          <a:bodyPr/>
          <a:lstStyle/>
          <a:p>
            <a:endParaRPr lang="en-US"/>
          </a:p>
        </p:txBody>
      </p:sp>
      <p:sp>
        <p:nvSpPr>
          <p:cNvPr id="10" name="Text 7"/>
          <p:cNvSpPr/>
          <p:nvPr/>
        </p:nvSpPr>
        <p:spPr>
          <a:xfrm>
            <a:off x="6464808" y="1956816"/>
            <a:ext cx="4946904" cy="4178808"/>
          </a:xfrm>
          <a:prstGeom prst="rect">
            <a:avLst/>
          </a:prstGeom>
          <a:noFill/>
          <a:ln/>
        </p:spPr>
        <p:txBody>
          <a:bodyPr wrap="square" rtlCol="0" anchor="t"/>
          <a:lstStyle/>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 ...continued</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it("3. respects the disabled prop", () =&gt;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setup({ disabled: true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expect(screen.getByText("Save"))</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.toBeDisabled();</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it("4. applies a custom className", () =&gt;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setup({ className: "primary"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expect(screen.getByText("Save"))</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.toHaveClass("primary");</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it("5. defaults to the default variant", () =&gt;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setup();</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expect(screen.getByText("Save"))</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.toHaveAttribute("data-variant", "default");</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a:t>
            </a:r>
            <a:endParaRPr lang="en-US" sz="1200" dirty="0"/>
          </a:p>
        </p:txBody>
      </p:sp>
      <p:sp>
        <p:nvSpPr>
          <p:cNvPr id="11" name="Text 8"/>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12" name="Text 9"/>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CI/CD: Tests in Azure DevOps Pipelines</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417320"/>
            <a:ext cx="60350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azure-pipelines.yml</a:t>
            </a:r>
            <a:endParaRPr lang="en-US" sz="1300" dirty="0"/>
          </a:p>
        </p:txBody>
      </p:sp>
      <p:sp>
        <p:nvSpPr>
          <p:cNvPr id="7" name="Shape 4"/>
          <p:cNvSpPr/>
          <p:nvPr/>
        </p:nvSpPr>
        <p:spPr>
          <a:xfrm>
            <a:off x="548640" y="1783080"/>
            <a:ext cx="6035040" cy="4480560"/>
          </a:xfrm>
          <a:prstGeom prst="roundRect">
            <a:avLst>
              <a:gd name="adj" fmla="val 1633"/>
            </a:avLst>
          </a:prstGeom>
          <a:solidFill>
            <a:srgbClr val="1B2233"/>
          </a:solidFill>
          <a:ln w="12700">
            <a:solidFill>
              <a:srgbClr val="1B2233"/>
            </a:solidFill>
            <a:prstDash val="solid"/>
          </a:ln>
        </p:spPr>
        <p:txBody>
          <a:bodyPr/>
          <a:lstStyle/>
          <a:p>
            <a:endParaRPr lang="en-US"/>
          </a:p>
        </p:txBody>
      </p:sp>
      <p:sp>
        <p:nvSpPr>
          <p:cNvPr id="8" name="Text 5"/>
          <p:cNvSpPr/>
          <p:nvPr/>
        </p:nvSpPr>
        <p:spPr>
          <a:xfrm>
            <a:off x="749808" y="1911096"/>
            <a:ext cx="5632704" cy="4224528"/>
          </a:xfrm>
          <a:prstGeom prst="rect">
            <a:avLst/>
          </a:prstGeom>
          <a:noFill/>
          <a:ln/>
        </p:spPr>
        <p:txBody>
          <a:bodyPr wrap="square" rtlCol="0" anchor="t"/>
          <a:lstStyle/>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trigger:</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branches:</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include:</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 main</a:t>
            </a:r>
            <a:endParaRPr lang="en-US" sz="1200" dirty="0"/>
          </a:p>
          <a:p>
            <a:pPr marL="0" indent="0">
              <a:lnSpc>
                <a:spcPct val="100000"/>
              </a:lnSpc>
              <a:buNone/>
            </a:pP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pool:</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vmImage: "ubuntu-latest"</a:t>
            </a:r>
            <a:endParaRPr lang="en-US" sz="1200" dirty="0"/>
          </a:p>
          <a:p>
            <a:pPr marL="0" indent="0">
              <a:lnSpc>
                <a:spcPct val="100000"/>
              </a:lnSpc>
              <a:buNone/>
            </a:pP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steps:</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 task: NodeTool@0</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inputs:</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versionSpec: "22.x"</a:t>
            </a:r>
            <a:endParaRPr lang="en-US" sz="1200" dirty="0"/>
          </a:p>
          <a:p>
            <a:pPr marL="0" indent="0">
              <a:lnSpc>
                <a:spcPct val="100000"/>
              </a:lnSpc>
              <a:buNone/>
            </a:pP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 script: npm install</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displayName: "Install dependencies"</a:t>
            </a:r>
            <a:endParaRPr lang="en-US" sz="1200" dirty="0"/>
          </a:p>
          <a:p>
            <a:pPr marL="0" indent="0">
              <a:lnSpc>
                <a:spcPct val="100000"/>
              </a:lnSpc>
              <a:buNone/>
            </a:pP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 script: npm test -- --run</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displayName: "Run unit tests"</a:t>
            </a:r>
            <a:endParaRPr lang="en-US" sz="1200" dirty="0"/>
          </a:p>
          <a:p>
            <a:pPr marL="0" indent="0">
              <a:lnSpc>
                <a:spcPct val="100000"/>
              </a:lnSpc>
              <a:buNone/>
            </a:pP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 script: npm run build</a:t>
            </a:r>
            <a:endParaRPr lang="en-US" sz="1200" dirty="0"/>
          </a:p>
          <a:p>
            <a:pPr marL="0" indent="0">
              <a:lnSpc>
                <a:spcPct val="100000"/>
              </a:lnSpc>
              <a:buNone/>
            </a:pPr>
            <a:r>
              <a:rPr lang="en-US" sz="1200" dirty="0">
                <a:solidFill>
                  <a:srgbClr val="9BE8D8"/>
                </a:solidFill>
                <a:latin typeface="Consolas" pitchFamily="34" charset="0"/>
                <a:ea typeface="Consolas" pitchFamily="34" charset="-122"/>
                <a:cs typeface="Consolas" pitchFamily="34" charset="-120"/>
              </a:rPr>
              <a:t>    displayName: "Build production bundle"</a:t>
            </a:r>
            <a:endParaRPr lang="en-US" sz="1200" dirty="0"/>
          </a:p>
        </p:txBody>
      </p:sp>
      <p:sp>
        <p:nvSpPr>
          <p:cNvPr id="9" name="Shape 6"/>
          <p:cNvSpPr/>
          <p:nvPr/>
        </p:nvSpPr>
        <p:spPr>
          <a:xfrm>
            <a:off x="7223760" y="1417320"/>
            <a:ext cx="4389120" cy="4846320"/>
          </a:xfrm>
          <a:prstGeom prst="roundRect">
            <a:avLst>
              <a:gd name="adj" fmla="val 1667"/>
            </a:avLst>
          </a:prstGeom>
          <a:solidFill>
            <a:srgbClr val="F4F7FC"/>
          </a:solidFill>
          <a:ln w="12700">
            <a:solidFill>
              <a:srgbClr val="E1E7F2"/>
            </a:solidFill>
            <a:prstDash val="solid"/>
          </a:ln>
        </p:spPr>
        <p:txBody>
          <a:bodyPr/>
          <a:lstStyle/>
          <a:p>
            <a:endParaRPr lang="en-US"/>
          </a:p>
        </p:txBody>
      </p:sp>
      <p:sp>
        <p:nvSpPr>
          <p:cNvPr id="10" name="Text 7"/>
          <p:cNvSpPr/>
          <p:nvPr/>
        </p:nvSpPr>
        <p:spPr>
          <a:xfrm>
            <a:off x="7498080" y="1645920"/>
            <a:ext cx="384048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WHY THIS MATTERS</a:t>
            </a:r>
            <a:endParaRPr lang="en-US" sz="1200" dirty="0"/>
          </a:p>
        </p:txBody>
      </p:sp>
      <p:sp>
        <p:nvSpPr>
          <p:cNvPr id="11" name="Text 8"/>
          <p:cNvSpPr/>
          <p:nvPr/>
        </p:nvSpPr>
        <p:spPr>
          <a:xfrm>
            <a:off x="7498080" y="2103120"/>
            <a:ext cx="3840480" cy="3840480"/>
          </a:xfrm>
          <a:prstGeom prst="rect">
            <a:avLst/>
          </a:prstGeom>
          <a:noFill/>
          <a:ln/>
        </p:spPr>
        <p:txBody>
          <a:bodyPr wrap="square" rtlCol="0" anchor="t"/>
          <a:lstStyle/>
          <a:p>
            <a:pPr marL="228600" indent="-228600">
              <a:spcAft>
                <a:spcPts val="1600"/>
              </a:spcAft>
              <a:buSzPct val="100000"/>
              <a:buChar char="•"/>
            </a:pPr>
            <a:r>
              <a:rPr lang="en-US" sz="1350" dirty="0">
                <a:solidFill>
                  <a:srgbClr val="222834"/>
                </a:solidFill>
                <a:latin typeface="Calibri" pitchFamily="34" charset="0"/>
                <a:ea typeface="Calibri" pitchFamily="34" charset="-122"/>
                <a:cs typeface="Calibri" pitchFamily="34" charset="-120"/>
              </a:rPr>
              <a:t>Runs the same tests automatically on every push — no one has to remember to run them by hand</a:t>
            </a:r>
            <a:endParaRPr lang="en-US" sz="1350" dirty="0"/>
          </a:p>
          <a:p>
            <a:pPr marL="228600" indent="-228600">
              <a:spcAft>
                <a:spcPts val="1600"/>
              </a:spcAft>
              <a:buSzPct val="100000"/>
              <a:buChar char="•"/>
            </a:pPr>
            <a:r>
              <a:rPr lang="en-US" sz="1350" dirty="0">
                <a:solidFill>
                  <a:srgbClr val="222834"/>
                </a:solidFill>
                <a:latin typeface="Calibri" pitchFamily="34" charset="0"/>
                <a:ea typeface="Calibri" pitchFamily="34" charset="-122"/>
                <a:cs typeface="Calibri" pitchFamily="34" charset="-120"/>
              </a:rPr>
              <a:t>Set it as a required build validation policy on main so a failing test blocks the merge, not just the pipeline</a:t>
            </a:r>
            <a:endParaRPr lang="en-US" sz="1350" dirty="0"/>
          </a:p>
          <a:p>
            <a:pPr marL="228600" indent="-228600">
              <a:spcAft>
                <a:spcPts val="1600"/>
              </a:spcAft>
              <a:buSzPct val="100000"/>
              <a:buChar char="•"/>
            </a:pPr>
            <a:r>
              <a:rPr lang="en-US" sz="1350" dirty="0">
                <a:solidFill>
                  <a:srgbClr val="222834"/>
                </a:solidFill>
                <a:latin typeface="Calibri" pitchFamily="34" charset="0"/>
                <a:ea typeface="Calibri" pitchFamily="34" charset="-122"/>
                <a:cs typeface="Calibri" pitchFamily="34" charset="-120"/>
              </a:rPr>
              <a:t>Catches regressions the moment they're pushed, before Amplify ever builds the change</a:t>
            </a:r>
            <a:endParaRPr lang="en-US" sz="1350" dirty="0"/>
          </a:p>
        </p:txBody>
      </p:sp>
      <p:sp>
        <p:nvSpPr>
          <p:cNvPr id="12" name="Text 9"/>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13" name="Text 10"/>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C49"/>
          </a:solidFill>
          <a:ln w="12700">
            <a:solidFill>
              <a:srgbClr val="161C49"/>
            </a:solidFill>
            <a:prstDash val="solid"/>
          </a:ln>
        </p:spPr>
        <p:txBody>
          <a:bodyPr/>
          <a:lstStyle/>
          <a:p>
            <a:endParaRPr lang="en-US"/>
          </a:p>
        </p:txBody>
      </p:sp>
      <p:sp>
        <p:nvSpPr>
          <p:cNvPr id="3" name="Shape 1"/>
          <p:cNvSpPr/>
          <p:nvPr/>
        </p:nvSpPr>
        <p:spPr>
          <a:xfrm>
            <a:off x="548640" y="2148840"/>
            <a:ext cx="1005840" cy="1005840"/>
          </a:xfrm>
          <a:prstGeom prst="ellipse">
            <a:avLst/>
          </a:prstGeom>
          <a:solidFill>
            <a:srgbClr val="00C9A7"/>
          </a:solidFill>
          <a:ln w="12700">
            <a:solidFill>
              <a:srgbClr val="00C9A7"/>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90042" y="2390242"/>
            <a:ext cx="523037" cy="523037"/>
          </a:xfrm>
          <a:prstGeom prst="rect">
            <a:avLst/>
          </a:prstGeom>
        </p:spPr>
      </p:pic>
      <p:sp>
        <p:nvSpPr>
          <p:cNvPr id="5" name="Text 2"/>
          <p:cNvSpPr/>
          <p:nvPr/>
        </p:nvSpPr>
        <p:spPr>
          <a:xfrm>
            <a:off x="548640" y="3291840"/>
            <a:ext cx="96012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Hour 3 — Hands-On</a:t>
            </a:r>
            <a:endParaRPr lang="en-US" sz="3800" dirty="0"/>
          </a:p>
        </p:txBody>
      </p:sp>
      <p:sp>
        <p:nvSpPr>
          <p:cNvPr id="6" name="Text 3"/>
          <p:cNvSpPr/>
          <p:nvPr/>
        </p:nvSpPr>
        <p:spPr>
          <a:xfrm>
            <a:off x="548640" y="4160520"/>
            <a:ext cx="9601200" cy="54864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Engineers build, push, and ship their own feature</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Hour 3 — What Engineers Do</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Shape 3"/>
          <p:cNvSpPr/>
          <p:nvPr/>
        </p:nvSpPr>
        <p:spPr>
          <a:xfrm>
            <a:off x="548640" y="1600200"/>
            <a:ext cx="457200" cy="457200"/>
          </a:xfrm>
          <a:prstGeom prst="ellipse">
            <a:avLst/>
          </a:prstGeom>
          <a:solidFill>
            <a:srgbClr val="CADCFC"/>
          </a:solidFill>
          <a:ln w="12700">
            <a:solidFill>
              <a:srgbClr val="CADCFC"/>
            </a:solidFill>
            <a:prstDash val="solid"/>
          </a:ln>
        </p:spPr>
        <p:txBody>
          <a:bodyPr/>
          <a:lstStyle/>
          <a:p>
            <a:endParaRPr lang="en-US"/>
          </a:p>
        </p:txBody>
      </p:sp>
      <p:sp>
        <p:nvSpPr>
          <p:cNvPr id="7" name="Text 4"/>
          <p:cNvSpPr/>
          <p:nvPr/>
        </p:nvSpPr>
        <p:spPr>
          <a:xfrm>
            <a:off x="548640" y="1600200"/>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188720" y="1554480"/>
            <a:ext cx="10454335" cy="594360"/>
          </a:xfrm>
          <a:prstGeom prst="rect">
            <a:avLst/>
          </a:prstGeom>
          <a:noFill/>
          <a:ln/>
        </p:spPr>
        <p:txBody>
          <a:bodyPr wrap="square" rtlCol="0" anchor="ctr"/>
          <a:lstStyle/>
          <a:p>
            <a:pPr marL="0" indent="0">
              <a:buNone/>
            </a:pPr>
            <a:r>
              <a:rPr lang="en-US" sz="1500" dirty="0">
                <a:solidFill>
                  <a:srgbClr val="222834"/>
                </a:solidFill>
                <a:latin typeface="Calibri" pitchFamily="34" charset="0"/>
                <a:ea typeface="Calibri" pitchFamily="34" charset="-122"/>
                <a:cs typeface="Calibri" pitchFamily="34" charset="-120"/>
              </a:rPr>
              <a:t>Pick one feature from a shared backlog (4–6 small, independent ideas prepared in advance)</a:t>
            </a:r>
            <a:endParaRPr lang="en-US" sz="1500" dirty="0"/>
          </a:p>
        </p:txBody>
      </p:sp>
      <p:sp>
        <p:nvSpPr>
          <p:cNvPr id="9" name="Shape 6"/>
          <p:cNvSpPr/>
          <p:nvPr/>
        </p:nvSpPr>
        <p:spPr>
          <a:xfrm>
            <a:off x="548640" y="2313432"/>
            <a:ext cx="457200" cy="457200"/>
          </a:xfrm>
          <a:prstGeom prst="ellipse">
            <a:avLst/>
          </a:prstGeom>
          <a:solidFill>
            <a:srgbClr val="CADCFC"/>
          </a:solidFill>
          <a:ln w="12700">
            <a:solidFill>
              <a:srgbClr val="CADCFC"/>
            </a:solidFill>
            <a:prstDash val="solid"/>
          </a:ln>
        </p:spPr>
        <p:txBody>
          <a:bodyPr/>
          <a:lstStyle/>
          <a:p>
            <a:endParaRPr lang="en-US"/>
          </a:p>
        </p:txBody>
      </p:sp>
      <p:sp>
        <p:nvSpPr>
          <p:cNvPr id="10" name="Text 7"/>
          <p:cNvSpPr/>
          <p:nvPr/>
        </p:nvSpPr>
        <p:spPr>
          <a:xfrm>
            <a:off x="548640" y="2313432"/>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188720" y="2267712"/>
            <a:ext cx="10454335" cy="594360"/>
          </a:xfrm>
          <a:prstGeom prst="rect">
            <a:avLst/>
          </a:prstGeom>
          <a:noFill/>
          <a:ln/>
        </p:spPr>
        <p:txBody>
          <a:bodyPr wrap="square" rtlCol="0" anchor="ctr"/>
          <a:lstStyle/>
          <a:p>
            <a:pPr marL="0" indent="0">
              <a:buNone/>
            </a:pPr>
            <a:r>
              <a:rPr lang="en-US" sz="1500" dirty="0">
                <a:solidFill>
                  <a:srgbClr val="222834"/>
                </a:solidFill>
                <a:latin typeface="Calibri" pitchFamily="34" charset="0"/>
                <a:ea typeface="Calibri" pitchFamily="34" charset="-122"/>
                <a:cs typeface="Calibri" pitchFamily="34" charset="-120"/>
              </a:rPr>
              <a:t>Use CLAUDE.md, skills, and slash commands from Hour 1 to implement it with Claude Code</a:t>
            </a:r>
            <a:endParaRPr lang="en-US" sz="1500" dirty="0"/>
          </a:p>
        </p:txBody>
      </p:sp>
      <p:sp>
        <p:nvSpPr>
          <p:cNvPr id="12" name="Shape 9"/>
          <p:cNvSpPr/>
          <p:nvPr/>
        </p:nvSpPr>
        <p:spPr>
          <a:xfrm>
            <a:off x="548640" y="3026664"/>
            <a:ext cx="457200" cy="457200"/>
          </a:xfrm>
          <a:prstGeom prst="ellipse">
            <a:avLst/>
          </a:prstGeom>
          <a:solidFill>
            <a:srgbClr val="CADCFC"/>
          </a:solidFill>
          <a:ln w="12700">
            <a:solidFill>
              <a:srgbClr val="CADCFC"/>
            </a:solidFill>
            <a:prstDash val="solid"/>
          </a:ln>
        </p:spPr>
        <p:txBody>
          <a:bodyPr/>
          <a:lstStyle/>
          <a:p>
            <a:endParaRPr lang="en-US"/>
          </a:p>
        </p:txBody>
      </p:sp>
      <p:sp>
        <p:nvSpPr>
          <p:cNvPr id="13" name="Text 10"/>
          <p:cNvSpPr/>
          <p:nvPr/>
        </p:nvSpPr>
        <p:spPr>
          <a:xfrm>
            <a:off x="548640" y="3026664"/>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3</a:t>
            </a:r>
            <a:endParaRPr lang="en-US" sz="1500" dirty="0"/>
          </a:p>
        </p:txBody>
      </p:sp>
      <p:sp>
        <p:nvSpPr>
          <p:cNvPr id="14" name="Text 11"/>
          <p:cNvSpPr/>
          <p:nvPr/>
        </p:nvSpPr>
        <p:spPr>
          <a:xfrm>
            <a:off x="1188720" y="2980944"/>
            <a:ext cx="10454335" cy="594360"/>
          </a:xfrm>
          <a:prstGeom prst="rect">
            <a:avLst/>
          </a:prstGeom>
          <a:noFill/>
          <a:ln/>
        </p:spPr>
        <p:txBody>
          <a:bodyPr wrap="square" rtlCol="0" anchor="ctr"/>
          <a:lstStyle/>
          <a:p>
            <a:pPr marL="0" indent="0">
              <a:buNone/>
            </a:pPr>
            <a:r>
              <a:rPr lang="en-US" sz="1500" dirty="0">
                <a:solidFill>
                  <a:srgbClr val="222834"/>
                </a:solidFill>
                <a:latin typeface="Calibri" pitchFamily="34" charset="0"/>
                <a:ea typeface="Calibri" pitchFamily="34" charset="-122"/>
                <a:cs typeface="Calibri" pitchFamily="34" charset="-120"/>
              </a:rPr>
              <a:t>Add a quick test or two, then test locally with npm test and npm run dev before pushing</a:t>
            </a:r>
            <a:endParaRPr lang="en-US" sz="1500" dirty="0"/>
          </a:p>
        </p:txBody>
      </p:sp>
      <p:sp>
        <p:nvSpPr>
          <p:cNvPr id="15" name="Shape 12"/>
          <p:cNvSpPr/>
          <p:nvPr/>
        </p:nvSpPr>
        <p:spPr>
          <a:xfrm>
            <a:off x="548640" y="3739896"/>
            <a:ext cx="457200" cy="457200"/>
          </a:xfrm>
          <a:prstGeom prst="ellipse">
            <a:avLst/>
          </a:prstGeom>
          <a:solidFill>
            <a:srgbClr val="CADCFC"/>
          </a:solidFill>
          <a:ln w="12700">
            <a:solidFill>
              <a:srgbClr val="CADCFC"/>
            </a:solidFill>
            <a:prstDash val="solid"/>
          </a:ln>
        </p:spPr>
        <p:txBody>
          <a:bodyPr/>
          <a:lstStyle/>
          <a:p>
            <a:endParaRPr lang="en-US"/>
          </a:p>
        </p:txBody>
      </p:sp>
      <p:sp>
        <p:nvSpPr>
          <p:cNvPr id="16" name="Text 13"/>
          <p:cNvSpPr/>
          <p:nvPr/>
        </p:nvSpPr>
        <p:spPr>
          <a:xfrm>
            <a:off x="548640" y="3739896"/>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4</a:t>
            </a:r>
            <a:endParaRPr lang="en-US" sz="1500" dirty="0"/>
          </a:p>
        </p:txBody>
      </p:sp>
      <p:sp>
        <p:nvSpPr>
          <p:cNvPr id="17" name="Text 14"/>
          <p:cNvSpPr/>
          <p:nvPr/>
        </p:nvSpPr>
        <p:spPr>
          <a:xfrm>
            <a:off x="1188720" y="3694176"/>
            <a:ext cx="10454335" cy="594360"/>
          </a:xfrm>
          <a:prstGeom prst="rect">
            <a:avLst/>
          </a:prstGeom>
          <a:noFill/>
          <a:ln/>
        </p:spPr>
        <p:txBody>
          <a:bodyPr wrap="square" rtlCol="0" anchor="ctr"/>
          <a:lstStyle/>
          <a:p>
            <a:pPr marL="0" indent="0">
              <a:buNone/>
            </a:pPr>
            <a:r>
              <a:rPr lang="en-US" sz="1500" dirty="0">
                <a:solidFill>
                  <a:srgbClr val="222834"/>
                </a:solidFill>
                <a:latin typeface="Calibri" pitchFamily="34" charset="0"/>
                <a:ea typeface="Calibri" pitchFamily="34" charset="-122"/>
                <a:cs typeface="Calibri" pitchFamily="34" charset="-120"/>
              </a:rPr>
              <a:t>Commit and push to their own branch in Azure DevOps</a:t>
            </a:r>
            <a:endParaRPr lang="en-US" sz="1500" dirty="0"/>
          </a:p>
        </p:txBody>
      </p:sp>
      <p:sp>
        <p:nvSpPr>
          <p:cNvPr id="18" name="Shape 15"/>
          <p:cNvSpPr/>
          <p:nvPr/>
        </p:nvSpPr>
        <p:spPr>
          <a:xfrm>
            <a:off x="548640" y="4453128"/>
            <a:ext cx="457200" cy="457200"/>
          </a:xfrm>
          <a:prstGeom prst="ellipse">
            <a:avLst/>
          </a:prstGeom>
          <a:solidFill>
            <a:srgbClr val="CADCFC"/>
          </a:solidFill>
          <a:ln w="12700">
            <a:solidFill>
              <a:srgbClr val="CADCFC"/>
            </a:solidFill>
            <a:prstDash val="solid"/>
          </a:ln>
        </p:spPr>
        <p:txBody>
          <a:bodyPr/>
          <a:lstStyle/>
          <a:p>
            <a:endParaRPr lang="en-US"/>
          </a:p>
        </p:txBody>
      </p:sp>
      <p:sp>
        <p:nvSpPr>
          <p:cNvPr id="19" name="Text 16"/>
          <p:cNvSpPr/>
          <p:nvPr/>
        </p:nvSpPr>
        <p:spPr>
          <a:xfrm>
            <a:off x="548640" y="4453128"/>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5</a:t>
            </a:r>
            <a:endParaRPr lang="en-US" sz="1500" dirty="0"/>
          </a:p>
        </p:txBody>
      </p:sp>
      <p:sp>
        <p:nvSpPr>
          <p:cNvPr id="20" name="Text 17"/>
          <p:cNvSpPr/>
          <p:nvPr/>
        </p:nvSpPr>
        <p:spPr>
          <a:xfrm>
            <a:off x="1188720" y="4407408"/>
            <a:ext cx="10454335" cy="594360"/>
          </a:xfrm>
          <a:prstGeom prst="rect">
            <a:avLst/>
          </a:prstGeom>
          <a:noFill/>
          <a:ln/>
        </p:spPr>
        <p:txBody>
          <a:bodyPr wrap="square" rtlCol="0" anchor="ctr"/>
          <a:lstStyle/>
          <a:p>
            <a:pPr marL="0" indent="0">
              <a:buNone/>
            </a:pPr>
            <a:r>
              <a:rPr lang="en-US" sz="1500" dirty="0">
                <a:solidFill>
                  <a:srgbClr val="222834"/>
                </a:solidFill>
                <a:latin typeface="Calibri" pitchFamily="34" charset="0"/>
                <a:ea typeface="Calibri" pitchFamily="34" charset="-122"/>
                <a:cs typeface="Calibri" pitchFamily="34" charset="-120"/>
              </a:rPr>
              <a:t>Azure Pipelines runs tests, then Amplify auto-builds — view the deployed result</a:t>
            </a:r>
            <a:endParaRPr lang="en-US" sz="1500" dirty="0"/>
          </a:p>
        </p:txBody>
      </p:sp>
      <p:sp>
        <p:nvSpPr>
          <p:cNvPr id="21" name="Shape 18"/>
          <p:cNvSpPr/>
          <p:nvPr/>
        </p:nvSpPr>
        <p:spPr>
          <a:xfrm>
            <a:off x="548640" y="5166360"/>
            <a:ext cx="457200" cy="457200"/>
          </a:xfrm>
          <a:prstGeom prst="ellipse">
            <a:avLst/>
          </a:prstGeom>
          <a:solidFill>
            <a:srgbClr val="CADCFC"/>
          </a:solidFill>
          <a:ln w="12700">
            <a:solidFill>
              <a:srgbClr val="CADCFC"/>
            </a:solidFill>
            <a:prstDash val="solid"/>
          </a:ln>
        </p:spPr>
        <p:txBody>
          <a:bodyPr/>
          <a:lstStyle/>
          <a:p>
            <a:endParaRPr lang="en-US"/>
          </a:p>
        </p:txBody>
      </p:sp>
      <p:sp>
        <p:nvSpPr>
          <p:cNvPr id="22" name="Text 19"/>
          <p:cNvSpPr/>
          <p:nvPr/>
        </p:nvSpPr>
        <p:spPr>
          <a:xfrm>
            <a:off x="548640" y="5166360"/>
            <a:ext cx="457200" cy="45720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6</a:t>
            </a:r>
            <a:endParaRPr lang="en-US" sz="1500" dirty="0"/>
          </a:p>
        </p:txBody>
      </p:sp>
      <p:sp>
        <p:nvSpPr>
          <p:cNvPr id="23" name="Text 20"/>
          <p:cNvSpPr/>
          <p:nvPr/>
        </p:nvSpPr>
        <p:spPr>
          <a:xfrm>
            <a:off x="1188720" y="5120640"/>
            <a:ext cx="10454335" cy="594360"/>
          </a:xfrm>
          <a:prstGeom prst="rect">
            <a:avLst/>
          </a:prstGeom>
          <a:noFill/>
          <a:ln/>
        </p:spPr>
        <p:txBody>
          <a:bodyPr wrap="square" rtlCol="0" anchor="ctr"/>
          <a:lstStyle/>
          <a:p>
            <a:pPr marL="0" indent="0">
              <a:buNone/>
            </a:pPr>
            <a:r>
              <a:rPr lang="en-US" sz="1500" dirty="0">
                <a:solidFill>
                  <a:srgbClr val="222834"/>
                </a:solidFill>
                <a:latin typeface="Calibri" pitchFamily="34" charset="0"/>
                <a:ea typeface="Calibri" pitchFamily="34" charset="-122"/>
                <a:cs typeface="Calibri" pitchFamily="34" charset="-120"/>
              </a:rPr>
              <a:t>Wrap-up: walk through the live app together, each engineer shows what they shipped</a:t>
            </a:r>
            <a:endParaRPr lang="en-US" sz="1500" dirty="0"/>
          </a:p>
        </p:txBody>
      </p:sp>
      <p:sp>
        <p:nvSpPr>
          <p:cNvPr id="24" name="Text 21"/>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25" name="Text 22"/>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C49"/>
          </a:solidFill>
          <a:ln w="12700">
            <a:solidFill>
              <a:srgbClr val="161C49"/>
            </a:solidFill>
            <a:prstDash val="solid"/>
          </a:ln>
        </p:spPr>
        <p:txBody>
          <a:bodyPr/>
          <a:lstStyle/>
          <a:p>
            <a:endParaRPr lang="en-US"/>
          </a:p>
        </p:txBody>
      </p:sp>
      <p:sp>
        <p:nvSpPr>
          <p:cNvPr id="3" name="Shape 1"/>
          <p:cNvSpPr/>
          <p:nvPr/>
        </p:nvSpPr>
        <p:spPr>
          <a:xfrm>
            <a:off x="548640" y="2148840"/>
            <a:ext cx="1005840" cy="1005840"/>
          </a:xfrm>
          <a:prstGeom prst="ellipse">
            <a:avLst/>
          </a:prstGeom>
          <a:solidFill>
            <a:srgbClr val="00C9A7"/>
          </a:solidFill>
          <a:ln w="12700">
            <a:solidFill>
              <a:srgbClr val="00C9A7"/>
            </a:solidFill>
            <a:prstDash val="solid"/>
          </a:ln>
        </p:spPr>
        <p:txBody>
          <a:bodyPr/>
          <a:lstStyle/>
          <a:p>
            <a:endParaRPr lang="en-US"/>
          </a:p>
        </p:txBody>
      </p:sp>
      <p:pic>
        <p:nvPicPr>
          <p:cNvPr id="4" name="Image 0" descr="preencoded.png"/>
          <p:cNvPicPr>
            <a:picLocks noChangeAspect="1"/>
          </p:cNvPicPr>
          <p:nvPr/>
        </p:nvPicPr>
        <p:blipFill>
          <a:blip r:embed="rId3"/>
          <a:stretch>
            <a:fillRect/>
          </a:stretch>
        </p:blipFill>
        <p:spPr>
          <a:xfrm>
            <a:off x="790042" y="2390242"/>
            <a:ext cx="523037" cy="523037"/>
          </a:xfrm>
          <a:prstGeom prst="rect">
            <a:avLst/>
          </a:prstGeom>
        </p:spPr>
      </p:pic>
      <p:sp>
        <p:nvSpPr>
          <p:cNvPr id="5" name="Text 2"/>
          <p:cNvSpPr/>
          <p:nvPr/>
        </p:nvSpPr>
        <p:spPr>
          <a:xfrm>
            <a:off x="548640" y="3291840"/>
            <a:ext cx="96012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Installing Dependencies on Windows</a:t>
            </a:r>
            <a:endParaRPr lang="en-US" sz="3800" dirty="0"/>
          </a:p>
        </p:txBody>
      </p:sp>
      <p:sp>
        <p:nvSpPr>
          <p:cNvPr id="6" name="Text 3"/>
          <p:cNvSpPr/>
          <p:nvPr/>
        </p:nvSpPr>
        <p:spPr>
          <a:xfrm>
            <a:off x="548640" y="4160520"/>
            <a:ext cx="9601200" cy="548640"/>
          </a:xfrm>
          <a:prstGeom prst="rect">
            <a:avLst/>
          </a:prstGeom>
          <a:noFill/>
          <a:ln/>
        </p:spPr>
        <p:txBody>
          <a:bodyPr wrap="square"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PowerShell setup for every engineer, before the session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Windows Setup — Part 1</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371600"/>
            <a:ext cx="11094415" cy="411480"/>
          </a:xfrm>
          <a:prstGeom prst="rect">
            <a:avLst/>
          </a:prstGeom>
          <a:noFill/>
          <a:ln/>
        </p:spPr>
        <p:txBody>
          <a:bodyPr wrap="square" rtlCol="0" anchor="ctr"/>
          <a:lstStyle/>
          <a:p>
            <a:pPr marL="0" indent="0">
              <a:buNone/>
            </a:pPr>
            <a:r>
              <a:rPr lang="en-US" sz="1350" i="1" dirty="0">
                <a:solidFill>
                  <a:srgbClr val="6E7B91"/>
                </a:solidFill>
                <a:latin typeface="Calibri" pitchFamily="34" charset="0"/>
                <a:ea typeface="Calibri" pitchFamily="34" charset="-122"/>
                <a:cs typeface="Calibri" pitchFamily="34" charset="-120"/>
              </a:rPr>
              <a:t>Run each command in PowerShell. Fully close and reopen PowerShell after installs so PATH refreshes.</a:t>
            </a:r>
            <a:endParaRPr lang="en-US" sz="1350" dirty="0"/>
          </a:p>
        </p:txBody>
      </p:sp>
      <p:sp>
        <p:nvSpPr>
          <p:cNvPr id="7" name="Text 4"/>
          <p:cNvSpPr/>
          <p:nvPr/>
        </p:nvSpPr>
        <p:spPr>
          <a:xfrm>
            <a:off x="548640" y="1874520"/>
            <a:ext cx="54864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1. Claude Code (native installer)</a:t>
            </a:r>
            <a:endParaRPr lang="en-US" sz="1450" dirty="0"/>
          </a:p>
        </p:txBody>
      </p:sp>
      <p:sp>
        <p:nvSpPr>
          <p:cNvPr id="8" name="Shape 5"/>
          <p:cNvSpPr/>
          <p:nvPr/>
        </p:nvSpPr>
        <p:spPr>
          <a:xfrm>
            <a:off x="548640" y="2194560"/>
            <a:ext cx="548640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9" name="Text 6"/>
          <p:cNvSpPr/>
          <p:nvPr/>
        </p:nvSpPr>
        <p:spPr>
          <a:xfrm>
            <a:off x="749808" y="2322576"/>
            <a:ext cx="508406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irm https://claude.ai/install.ps1 | iex</a:t>
            </a:r>
            <a:endParaRPr lang="en-US" sz="1300" dirty="0"/>
          </a:p>
        </p:txBody>
      </p:sp>
      <p:sp>
        <p:nvSpPr>
          <p:cNvPr id="10" name="Text 7"/>
          <p:cNvSpPr/>
          <p:nvPr/>
        </p:nvSpPr>
        <p:spPr>
          <a:xfrm>
            <a:off x="548640" y="2926080"/>
            <a:ext cx="54864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2. Node.js LTS (v22+)</a:t>
            </a:r>
            <a:endParaRPr lang="en-US" sz="1450" dirty="0"/>
          </a:p>
        </p:txBody>
      </p:sp>
      <p:sp>
        <p:nvSpPr>
          <p:cNvPr id="11" name="Shape 8"/>
          <p:cNvSpPr/>
          <p:nvPr/>
        </p:nvSpPr>
        <p:spPr>
          <a:xfrm>
            <a:off x="548640" y="3246120"/>
            <a:ext cx="548640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12" name="Text 9"/>
          <p:cNvSpPr/>
          <p:nvPr/>
        </p:nvSpPr>
        <p:spPr>
          <a:xfrm>
            <a:off x="749808" y="3374136"/>
            <a:ext cx="508406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winget install OpenJS.NodeJS.LTS</a:t>
            </a:r>
            <a:endParaRPr lang="en-US" sz="1300" dirty="0"/>
          </a:p>
        </p:txBody>
      </p:sp>
      <p:sp>
        <p:nvSpPr>
          <p:cNvPr id="13" name="Text 10"/>
          <p:cNvSpPr/>
          <p:nvPr/>
        </p:nvSpPr>
        <p:spPr>
          <a:xfrm>
            <a:off x="548640" y="3977640"/>
            <a:ext cx="54864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3. Git</a:t>
            </a:r>
            <a:endParaRPr lang="en-US" sz="1450" dirty="0"/>
          </a:p>
        </p:txBody>
      </p:sp>
      <p:sp>
        <p:nvSpPr>
          <p:cNvPr id="14" name="Shape 11"/>
          <p:cNvSpPr/>
          <p:nvPr/>
        </p:nvSpPr>
        <p:spPr>
          <a:xfrm>
            <a:off x="548640" y="4297680"/>
            <a:ext cx="548640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15" name="Text 12"/>
          <p:cNvSpPr/>
          <p:nvPr/>
        </p:nvSpPr>
        <p:spPr>
          <a:xfrm>
            <a:off x="749808" y="4425696"/>
            <a:ext cx="508406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winget install --id Git.Git -e --source winget</a:t>
            </a:r>
            <a:endParaRPr lang="en-US" sz="1300" dirty="0"/>
          </a:p>
        </p:txBody>
      </p:sp>
      <p:sp>
        <p:nvSpPr>
          <p:cNvPr id="16" name="Text 13"/>
          <p:cNvSpPr/>
          <p:nvPr/>
        </p:nvSpPr>
        <p:spPr>
          <a:xfrm>
            <a:off x="548640" y="5029200"/>
            <a:ext cx="54864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4. VS Code</a:t>
            </a:r>
            <a:endParaRPr lang="en-US" sz="1450" dirty="0"/>
          </a:p>
        </p:txBody>
      </p:sp>
      <p:sp>
        <p:nvSpPr>
          <p:cNvPr id="17" name="Shape 14"/>
          <p:cNvSpPr/>
          <p:nvPr/>
        </p:nvSpPr>
        <p:spPr>
          <a:xfrm>
            <a:off x="548640" y="5349240"/>
            <a:ext cx="548640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18" name="Text 15"/>
          <p:cNvSpPr/>
          <p:nvPr/>
        </p:nvSpPr>
        <p:spPr>
          <a:xfrm>
            <a:off x="749808" y="5477256"/>
            <a:ext cx="508406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winget install -e --id Microsoft.VisualStudioCode</a:t>
            </a:r>
            <a:endParaRPr lang="en-US" sz="1300" dirty="0"/>
          </a:p>
        </p:txBody>
      </p:sp>
      <p:sp>
        <p:nvSpPr>
          <p:cNvPr id="19" name="Shape 16"/>
          <p:cNvSpPr/>
          <p:nvPr/>
        </p:nvSpPr>
        <p:spPr>
          <a:xfrm>
            <a:off x="6766560" y="1874520"/>
            <a:ext cx="4846320" cy="4069080"/>
          </a:xfrm>
          <a:prstGeom prst="roundRect">
            <a:avLst>
              <a:gd name="adj" fmla="val 1798"/>
            </a:avLst>
          </a:prstGeom>
          <a:solidFill>
            <a:srgbClr val="F4F7FC"/>
          </a:solidFill>
          <a:ln w="12700">
            <a:solidFill>
              <a:srgbClr val="E1E7F2"/>
            </a:solidFill>
            <a:prstDash val="solid"/>
          </a:ln>
        </p:spPr>
        <p:txBody>
          <a:bodyPr/>
          <a:lstStyle/>
          <a:p>
            <a:endParaRPr lang="en-US"/>
          </a:p>
        </p:txBody>
      </p:sp>
      <p:sp>
        <p:nvSpPr>
          <p:cNvPr id="20" name="Text 17"/>
          <p:cNvSpPr/>
          <p:nvPr/>
        </p:nvSpPr>
        <p:spPr>
          <a:xfrm>
            <a:off x="7040880" y="2103120"/>
            <a:ext cx="429768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OPTIONAL: WSL2</a:t>
            </a:r>
            <a:endParaRPr lang="en-US" sz="1200" dirty="0"/>
          </a:p>
        </p:txBody>
      </p:sp>
      <p:sp>
        <p:nvSpPr>
          <p:cNvPr id="21" name="Text 18"/>
          <p:cNvSpPr/>
          <p:nvPr/>
        </p:nvSpPr>
        <p:spPr>
          <a:xfrm>
            <a:off x="7040880" y="2468880"/>
            <a:ext cx="4297680" cy="1188720"/>
          </a:xfrm>
          <a:prstGeom prst="rect">
            <a:avLst/>
          </a:prstGeom>
          <a:noFill/>
          <a:ln/>
        </p:spPr>
        <p:txBody>
          <a:bodyPr wrap="square" rtlCol="0" anchor="t"/>
          <a:lstStyle/>
          <a:p>
            <a:pPr marL="0" indent="0">
              <a:buNone/>
            </a:pPr>
            <a:r>
              <a:rPr lang="en-US" sz="1350" dirty="0">
                <a:solidFill>
                  <a:srgbClr val="222834"/>
                </a:solidFill>
                <a:latin typeface="Calibri" pitchFamily="34" charset="0"/>
                <a:ea typeface="Calibri" pitchFamily="34" charset="-122"/>
                <a:cs typeface="Calibri" pitchFamily="34" charset="-120"/>
              </a:rPr>
              <a:t>If your repo relies on bash scripts, a Makefile, or POSIX-only build steps, consider running everything inside WSL2 for full Unix parity.</a:t>
            </a:r>
            <a:endParaRPr lang="en-US" sz="1350" dirty="0"/>
          </a:p>
        </p:txBody>
      </p:sp>
      <p:sp>
        <p:nvSpPr>
          <p:cNvPr id="22" name="Shape 19"/>
          <p:cNvSpPr/>
          <p:nvPr/>
        </p:nvSpPr>
        <p:spPr>
          <a:xfrm>
            <a:off x="7040880" y="3749040"/>
            <a:ext cx="429768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23" name="Text 20"/>
          <p:cNvSpPr/>
          <p:nvPr/>
        </p:nvSpPr>
        <p:spPr>
          <a:xfrm>
            <a:off x="7242048" y="3877056"/>
            <a:ext cx="389534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wsl --install</a:t>
            </a:r>
            <a:endParaRPr lang="en-US" sz="1300" dirty="0"/>
          </a:p>
        </p:txBody>
      </p:sp>
      <p:sp>
        <p:nvSpPr>
          <p:cNvPr id="24" name="Text 21"/>
          <p:cNvSpPr/>
          <p:nvPr/>
        </p:nvSpPr>
        <p:spPr>
          <a:xfrm>
            <a:off x="7040880" y="4526280"/>
            <a:ext cx="4297680" cy="1188720"/>
          </a:xfrm>
          <a:prstGeom prst="rect">
            <a:avLst/>
          </a:prstGeom>
          <a:noFill/>
          <a:ln/>
        </p:spPr>
        <p:txBody>
          <a:bodyPr wrap="square" rtlCol="0" anchor="t"/>
          <a:lstStyle/>
          <a:p>
            <a:pPr marL="0" indent="0">
              <a:buNone/>
            </a:pPr>
            <a:r>
              <a:rPr lang="en-US" sz="1300" i="1" dirty="0">
                <a:solidFill>
                  <a:srgbClr val="6E7B91"/>
                </a:solidFill>
                <a:latin typeface="Calibri" pitchFamily="34" charset="0"/>
                <a:ea typeface="Calibri" pitchFamily="34" charset="-122"/>
                <a:cs typeface="Calibri" pitchFamily="34" charset="-120"/>
              </a:rPr>
              <a:t>Not required for this workshop — native Windows works fine for the React + Amplify flow we're demoing.</a:t>
            </a:r>
            <a:endParaRPr lang="en-US" sz="1300" dirty="0"/>
          </a:p>
        </p:txBody>
      </p:sp>
      <p:sp>
        <p:nvSpPr>
          <p:cNvPr id="25" name="Text 22"/>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26" name="Text 23"/>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Windows Setup — Part 2</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463040"/>
            <a:ext cx="54864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5. AWS CLI v2</a:t>
            </a:r>
            <a:endParaRPr lang="en-US" sz="1450" dirty="0"/>
          </a:p>
        </p:txBody>
      </p:sp>
      <p:sp>
        <p:nvSpPr>
          <p:cNvPr id="7" name="Shape 4"/>
          <p:cNvSpPr/>
          <p:nvPr/>
        </p:nvSpPr>
        <p:spPr>
          <a:xfrm>
            <a:off x="548640" y="1783080"/>
            <a:ext cx="548640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8" name="Text 5"/>
          <p:cNvSpPr/>
          <p:nvPr/>
        </p:nvSpPr>
        <p:spPr>
          <a:xfrm>
            <a:off x="749808" y="1911096"/>
            <a:ext cx="508406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winget install -e --id Amazon.AWSCLI</a:t>
            </a:r>
            <a:endParaRPr lang="en-US" sz="1300" dirty="0"/>
          </a:p>
        </p:txBody>
      </p:sp>
      <p:sp>
        <p:nvSpPr>
          <p:cNvPr id="9" name="Text 6"/>
          <p:cNvSpPr/>
          <p:nvPr/>
        </p:nvSpPr>
        <p:spPr>
          <a:xfrm>
            <a:off x="548640" y="2514600"/>
            <a:ext cx="5486400" cy="64008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6. Amplify CLI (optional — only if not using Amplify Console's git-based deploy)</a:t>
            </a:r>
            <a:endParaRPr lang="en-US" sz="1300" dirty="0"/>
          </a:p>
        </p:txBody>
      </p:sp>
      <p:sp>
        <p:nvSpPr>
          <p:cNvPr id="10" name="Shape 7"/>
          <p:cNvSpPr/>
          <p:nvPr/>
        </p:nvSpPr>
        <p:spPr>
          <a:xfrm>
            <a:off x="548640" y="3154680"/>
            <a:ext cx="5486400" cy="594360"/>
          </a:xfrm>
          <a:prstGeom prst="roundRect">
            <a:avLst>
              <a:gd name="adj" fmla="val 12308"/>
            </a:avLst>
          </a:prstGeom>
          <a:solidFill>
            <a:srgbClr val="1B2233"/>
          </a:solidFill>
          <a:ln w="12700">
            <a:solidFill>
              <a:srgbClr val="1B2233"/>
            </a:solidFill>
            <a:prstDash val="solid"/>
          </a:ln>
        </p:spPr>
        <p:txBody>
          <a:bodyPr/>
          <a:lstStyle/>
          <a:p>
            <a:endParaRPr lang="en-US"/>
          </a:p>
        </p:txBody>
      </p:sp>
      <p:sp>
        <p:nvSpPr>
          <p:cNvPr id="11" name="Text 8"/>
          <p:cNvSpPr/>
          <p:nvPr/>
        </p:nvSpPr>
        <p:spPr>
          <a:xfrm>
            <a:off x="749808" y="3282696"/>
            <a:ext cx="5084064" cy="3383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npm install -g @aws-amplify/cli</a:t>
            </a:r>
            <a:endParaRPr lang="en-US" sz="1300" dirty="0"/>
          </a:p>
        </p:txBody>
      </p:sp>
      <p:sp>
        <p:nvSpPr>
          <p:cNvPr id="12" name="Text 9"/>
          <p:cNvSpPr/>
          <p:nvPr/>
        </p:nvSpPr>
        <p:spPr>
          <a:xfrm>
            <a:off x="548640" y="3886200"/>
            <a:ext cx="5486400" cy="32004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7. Configure AWS credentials</a:t>
            </a:r>
            <a:endParaRPr lang="en-US" sz="1450" dirty="0"/>
          </a:p>
        </p:txBody>
      </p:sp>
      <p:sp>
        <p:nvSpPr>
          <p:cNvPr id="13" name="Shape 10"/>
          <p:cNvSpPr/>
          <p:nvPr/>
        </p:nvSpPr>
        <p:spPr>
          <a:xfrm>
            <a:off x="548640" y="4206240"/>
            <a:ext cx="5486400" cy="1051560"/>
          </a:xfrm>
          <a:prstGeom prst="roundRect">
            <a:avLst>
              <a:gd name="adj" fmla="val 6957"/>
            </a:avLst>
          </a:prstGeom>
          <a:solidFill>
            <a:srgbClr val="1B2233"/>
          </a:solidFill>
          <a:ln w="12700">
            <a:solidFill>
              <a:srgbClr val="1B2233"/>
            </a:solidFill>
            <a:prstDash val="solid"/>
          </a:ln>
        </p:spPr>
        <p:txBody>
          <a:bodyPr/>
          <a:lstStyle/>
          <a:p>
            <a:endParaRPr lang="en-US"/>
          </a:p>
        </p:txBody>
      </p:sp>
      <p:sp>
        <p:nvSpPr>
          <p:cNvPr id="14" name="Text 11"/>
          <p:cNvSpPr/>
          <p:nvPr/>
        </p:nvSpPr>
        <p:spPr>
          <a:xfrm>
            <a:off x="749808" y="4334256"/>
            <a:ext cx="5084064" cy="795528"/>
          </a:xfrm>
          <a:prstGeom prst="rect">
            <a:avLst/>
          </a:prstGeom>
          <a:noFill/>
          <a:ln/>
        </p:spPr>
        <p:txBody>
          <a:bodyPr wrap="square" rtlCol="0" anchor="t"/>
          <a:lstStyle/>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aws configure</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AWS Access Key ID, Secret Access Key,</a:t>
            </a:r>
            <a:endParaRPr lang="en-US" sz="1300" dirty="0"/>
          </a:p>
          <a:p>
            <a:pPr marL="0" indent="0">
              <a:lnSpc>
                <a:spcPct val="125000"/>
              </a:lnSpc>
              <a:buNone/>
            </a:pPr>
            <a:r>
              <a:rPr lang="en-US" sz="1300" dirty="0">
                <a:solidFill>
                  <a:srgbClr val="9BE8D8"/>
                </a:solidFill>
                <a:latin typeface="Consolas" pitchFamily="34" charset="0"/>
                <a:ea typeface="Consolas" pitchFamily="34" charset="-122"/>
                <a:cs typeface="Consolas" pitchFamily="34" charset="-120"/>
              </a:rPr>
              <a:t># default region, output format</a:t>
            </a:r>
            <a:endParaRPr lang="en-US" sz="1300" dirty="0"/>
          </a:p>
        </p:txBody>
      </p:sp>
      <p:sp>
        <p:nvSpPr>
          <p:cNvPr id="15" name="Shape 12"/>
          <p:cNvSpPr/>
          <p:nvPr/>
        </p:nvSpPr>
        <p:spPr>
          <a:xfrm>
            <a:off x="6766560" y="1463040"/>
            <a:ext cx="4846320" cy="4480560"/>
          </a:xfrm>
          <a:prstGeom prst="roundRect">
            <a:avLst>
              <a:gd name="adj" fmla="val 1633"/>
            </a:avLst>
          </a:prstGeom>
          <a:solidFill>
            <a:srgbClr val="F4F7FC"/>
          </a:solidFill>
          <a:ln w="12700">
            <a:solidFill>
              <a:srgbClr val="E1E7F2"/>
            </a:solidFill>
            <a:prstDash val="solid"/>
          </a:ln>
        </p:spPr>
        <p:txBody>
          <a:bodyPr/>
          <a:lstStyle/>
          <a:p>
            <a:endParaRPr lang="en-US"/>
          </a:p>
        </p:txBody>
      </p:sp>
      <p:sp>
        <p:nvSpPr>
          <p:cNvPr id="16" name="Text 13"/>
          <p:cNvSpPr/>
          <p:nvPr/>
        </p:nvSpPr>
        <p:spPr>
          <a:xfrm>
            <a:off x="7040880" y="1691640"/>
            <a:ext cx="4297680" cy="320040"/>
          </a:xfrm>
          <a:prstGeom prst="rect">
            <a:avLst/>
          </a:prstGeom>
          <a:noFill/>
          <a:ln/>
        </p:spPr>
        <p:txBody>
          <a:bodyPr wrap="square" rtlCol="0" anchor="ctr"/>
          <a:lstStyle/>
          <a:p>
            <a:pPr marL="0" indent="0">
              <a:buNone/>
            </a:pPr>
            <a:r>
              <a:rPr lang="en-US" sz="1200" b="1" kern="0" spc="100" dirty="0">
                <a:solidFill>
                  <a:srgbClr val="0F8C78"/>
                </a:solidFill>
                <a:latin typeface="Calibri" pitchFamily="34" charset="0"/>
                <a:ea typeface="Calibri" pitchFamily="34" charset="-122"/>
                <a:cs typeface="Calibri" pitchFamily="34" charset="-120"/>
              </a:rPr>
              <a:t>VERIFY EVERYTHING</a:t>
            </a:r>
            <a:endParaRPr lang="en-US" sz="1200" dirty="0"/>
          </a:p>
        </p:txBody>
      </p:sp>
      <p:sp>
        <p:nvSpPr>
          <p:cNvPr id="17" name="Shape 14"/>
          <p:cNvSpPr/>
          <p:nvPr/>
        </p:nvSpPr>
        <p:spPr>
          <a:xfrm>
            <a:off x="7040880" y="2057400"/>
            <a:ext cx="4297680" cy="2286000"/>
          </a:xfrm>
          <a:prstGeom prst="roundRect">
            <a:avLst>
              <a:gd name="adj" fmla="val 3200"/>
            </a:avLst>
          </a:prstGeom>
          <a:solidFill>
            <a:srgbClr val="1B2233"/>
          </a:solidFill>
          <a:ln w="12700">
            <a:solidFill>
              <a:srgbClr val="1B2233"/>
            </a:solidFill>
            <a:prstDash val="solid"/>
          </a:ln>
        </p:spPr>
        <p:txBody>
          <a:bodyPr/>
          <a:lstStyle/>
          <a:p>
            <a:endParaRPr lang="en-US"/>
          </a:p>
        </p:txBody>
      </p:sp>
      <p:sp>
        <p:nvSpPr>
          <p:cNvPr id="18" name="Text 15"/>
          <p:cNvSpPr/>
          <p:nvPr/>
        </p:nvSpPr>
        <p:spPr>
          <a:xfrm>
            <a:off x="7242048" y="2185416"/>
            <a:ext cx="3895344" cy="2029968"/>
          </a:xfrm>
          <a:prstGeom prst="rect">
            <a:avLst/>
          </a:prstGeom>
          <a:noFill/>
          <a:ln/>
        </p:spPr>
        <p:txBody>
          <a:bodyPr wrap="square" rtlCol="0" anchor="t"/>
          <a:lstStyle/>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node --version</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npm --version</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git --version</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claude --version</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aws --version</a:t>
            </a:r>
            <a:endParaRPr lang="en-US" sz="1350" dirty="0"/>
          </a:p>
          <a:p>
            <a:pPr marL="0" indent="0">
              <a:lnSpc>
                <a:spcPct val="125000"/>
              </a:lnSpc>
              <a:buNone/>
            </a:pPr>
            <a:r>
              <a:rPr lang="en-US" sz="1350" dirty="0">
                <a:solidFill>
                  <a:srgbClr val="9BE8D8"/>
                </a:solidFill>
                <a:latin typeface="Consolas" pitchFamily="34" charset="0"/>
                <a:ea typeface="Consolas" pitchFamily="34" charset="-122"/>
                <a:cs typeface="Consolas" pitchFamily="34" charset="-120"/>
              </a:rPr>
              <a:t>amplify --version</a:t>
            </a:r>
            <a:endParaRPr lang="en-US" sz="1350" dirty="0"/>
          </a:p>
        </p:txBody>
      </p:sp>
      <p:sp>
        <p:nvSpPr>
          <p:cNvPr id="19" name="Text 16"/>
          <p:cNvSpPr/>
          <p:nvPr/>
        </p:nvSpPr>
        <p:spPr>
          <a:xfrm>
            <a:off x="7040880" y="4526280"/>
            <a:ext cx="4297680" cy="1280160"/>
          </a:xfrm>
          <a:prstGeom prst="rect">
            <a:avLst/>
          </a:prstGeom>
          <a:noFill/>
          <a:ln/>
        </p:spPr>
        <p:txBody>
          <a:bodyPr wrap="square" rtlCol="0" anchor="t"/>
          <a:lstStyle/>
          <a:p>
            <a:pPr marL="0" indent="0">
              <a:buNone/>
            </a:pPr>
            <a:r>
              <a:rPr lang="en-US" sz="1300" i="1" dirty="0">
                <a:solidFill>
                  <a:srgbClr val="6E7B91"/>
                </a:solidFill>
                <a:latin typeface="Calibri" pitchFamily="34" charset="0"/>
                <a:ea typeface="Calibri" pitchFamily="34" charset="-122"/>
                <a:cs typeface="Calibri" pitchFamily="34" charset="-120"/>
              </a:rPr>
              <a:t>Send this checklist to engineers before the session — credential and PATH issues eat the most workshop time.</a:t>
            </a:r>
            <a:endParaRPr lang="en-US" sz="1300" dirty="0"/>
          </a:p>
        </p:txBody>
      </p:sp>
      <p:sp>
        <p:nvSpPr>
          <p:cNvPr id="20" name="Text 17"/>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21" name="Text 18"/>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Quick Reference: Commands</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931920">
                  <a:extLst>
                    <a:ext uri="{9D8B030D-6E8A-4147-A177-3AD203B41FA5}">
                      <a16:colId xmlns:a16="http://schemas.microsoft.com/office/drawing/2014/main" val="20000"/>
                    </a:ext>
                  </a:extLst>
                </a:gridCol>
                <a:gridCol w="7162495">
                  <a:extLst>
                    <a:ext uri="{9D8B030D-6E8A-4147-A177-3AD203B41FA5}">
                      <a16:colId xmlns:a16="http://schemas.microsoft.com/office/drawing/2014/main" val="20001"/>
                    </a:ext>
                  </a:extLst>
                </a:gridCol>
              </a:tblGrid>
              <a:tr h="512064">
                <a:tc>
                  <a:txBody>
                    <a:bodyPr/>
                    <a:lstStyle/>
                    <a:p>
                      <a:pPr marL="0" indent="0">
                        <a:buNone/>
                      </a:pPr>
                      <a:r>
                        <a:rPr lang="en-US" sz="1300" b="1" dirty="0">
                          <a:solidFill>
                            <a:srgbClr val="FFFFFF"/>
                          </a:solidFill>
                          <a:latin typeface="Consolas" pitchFamily="34" charset="0"/>
                          <a:ea typeface="Consolas" pitchFamily="34" charset="-122"/>
                          <a:cs typeface="Consolas" pitchFamily="34" charset="-120"/>
                        </a:rPr>
                        <a:t>claude</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1E2761"/>
                    </a:solidFill>
                  </a:tcPr>
                </a:tc>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Start a Claude Code session in the current directory</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/init</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Generate a starter CLAUDE.md from the existing repo</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extLst>
                  <a:ext uri="{0D108BD9-81ED-4DB2-BD59-A6C34878D82A}">
                    <a16:rowId xmlns:a16="http://schemas.microsoft.com/office/drawing/2014/main" val="10001"/>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/clear</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Clear conversation context</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/compact</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Compact context, keeping key details</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extLst>
                  <a:ext uri="{0D108BD9-81ED-4DB2-BD59-A6C34878D82A}">
                    <a16:rowId xmlns:a16="http://schemas.microsoft.com/office/drawing/2014/main" val="10003"/>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npm run dev</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Run the React app locally</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npm test</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Run the Vitest suite locally</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extLst>
                  <a:ext uri="{0D108BD9-81ED-4DB2-BD59-A6C34878D82A}">
                    <a16:rowId xmlns:a16="http://schemas.microsoft.com/office/drawing/2014/main" val="10005"/>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git add / commit / push</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Standard Git workflow to Azure DevOps</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aws configure</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Set up AWS credentials for Amplify CLI</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4F7FC"/>
                    </a:solidFill>
                  </a:tcPr>
                </a:tc>
                <a:extLst>
                  <a:ext uri="{0D108BD9-81ED-4DB2-BD59-A6C34878D82A}">
                    <a16:rowId xmlns:a16="http://schemas.microsoft.com/office/drawing/2014/main" val="10007"/>
                  </a:ext>
                </a:extLst>
              </a:tr>
              <a:tr h="512064">
                <a:tc>
                  <a:txBody>
                    <a:bodyPr/>
                    <a:lstStyle/>
                    <a:p>
                      <a:pPr marL="0" indent="0">
                        <a:buNone/>
                      </a:pPr>
                      <a:r>
                        <a:rPr lang="en-US" sz="1300" b="1" dirty="0">
                          <a:solidFill>
                            <a:srgbClr val="1E2761"/>
                          </a:solidFill>
                          <a:latin typeface="Consolas" pitchFamily="34" charset="0"/>
                          <a:ea typeface="Consolas" pitchFamily="34" charset="-122"/>
                          <a:cs typeface="Consolas" pitchFamily="34" charset="-120"/>
                        </a:rPr>
                        <a:t>amplify push</a:t>
                      </a:r>
                      <a:endParaRPr lang="en-US" sz="1300" dirty="0">
                        <a:latin typeface="Consolas" charset="0"/>
                        <a:ea typeface="Consolas" charset="0"/>
                        <a:cs typeface="Consolas"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tc>
                  <a:txBody>
                    <a:bodyPr/>
                    <a:lstStyle/>
                    <a:p>
                      <a:pPr marL="0" indent="0">
                        <a:buNone/>
                      </a:pPr>
                      <a:r>
                        <a:rPr lang="en-US" sz="1300" dirty="0">
                          <a:solidFill>
                            <a:srgbClr val="222834"/>
                          </a:solidFill>
                          <a:latin typeface="Calibri" pitchFamily="34" charset="0"/>
                          <a:ea typeface="Calibri" pitchFamily="34" charset="-122"/>
                          <a:cs typeface="Calibri" pitchFamily="34" charset="-120"/>
                        </a:rPr>
                        <a:t>Deploy backend/config changes (Amplify CLI)</a:t>
                      </a:r>
                      <a:endParaRPr lang="en-US" sz="1300" dirty="0">
                        <a:latin typeface="Calibri" charset="0"/>
                        <a:ea typeface="Calibri" charset="0"/>
                        <a:cs typeface="Calibri" charset="0"/>
                      </a:endParaRPr>
                    </a:p>
                  </a:txBody>
                  <a:tcPr marL="127000" marR="127000" marT="76200" marB="76200" anchor="ctr">
                    <a:lnL w="12700" cap="flat" cmpd="sng" algn="ctr">
                      <a:solidFill>
                        <a:srgbClr val="E1E7F2"/>
                      </a:solidFill>
                      <a:prstDash val="solid"/>
                      <a:round/>
                      <a:headEnd type="none" w="med" len="med"/>
                      <a:tailEnd type="none" w="med" len="med"/>
                    </a:lnL>
                    <a:lnR w="12700" cap="flat" cmpd="sng" algn="ctr">
                      <a:solidFill>
                        <a:srgbClr val="E1E7F2"/>
                      </a:solidFill>
                      <a:prstDash val="solid"/>
                      <a:round/>
                      <a:headEnd type="none" w="med" len="med"/>
                      <a:tailEnd type="none" w="med" len="med"/>
                    </a:lnR>
                    <a:lnT w="12700" cap="flat" cmpd="sng" algn="ctr">
                      <a:solidFill>
                        <a:srgbClr val="E1E7F2"/>
                      </a:solidFill>
                      <a:prstDash val="solid"/>
                      <a:round/>
                      <a:headEnd type="none" w="med" len="med"/>
                      <a:tailEnd type="none" w="med" len="med"/>
                    </a:lnT>
                    <a:lnB w="12700" cap="flat" cmpd="sng" algn="ctr">
                      <a:solidFill>
                        <a:srgbClr val="E1E7F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 3"/>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8" name="Text 4"/>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658368" cy="658368"/>
          </a:xfrm>
          <a:prstGeom prst="ellipse">
            <a:avLst/>
          </a:prstGeom>
          <a:solidFill>
            <a:srgbClr val="CADCFC"/>
          </a:solidFill>
          <a:ln w="12700">
            <a:solidFill>
              <a:srgbClr val="CADCF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706648" y="615208"/>
            <a:ext cx="342351" cy="342351"/>
          </a:xfrm>
          <a:prstGeom prst="rect">
            <a:avLst/>
          </a:prstGeom>
        </p:spPr>
      </p:pic>
      <p:sp>
        <p:nvSpPr>
          <p:cNvPr id="4" name="Text 1"/>
          <p:cNvSpPr/>
          <p:nvPr/>
        </p:nvSpPr>
        <p:spPr>
          <a:xfrm>
            <a:off x="1417320" y="457200"/>
            <a:ext cx="10225735" cy="65836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Troubleshooting Notes</a:t>
            </a:r>
            <a:endParaRPr lang="en-US" sz="3000" dirty="0"/>
          </a:p>
        </p:txBody>
      </p:sp>
      <p:sp>
        <p:nvSpPr>
          <p:cNvPr id="5" name="Shape 2"/>
          <p:cNvSpPr/>
          <p:nvPr/>
        </p:nvSpPr>
        <p:spPr>
          <a:xfrm>
            <a:off x="548640" y="1207008"/>
            <a:ext cx="11094415" cy="0"/>
          </a:xfrm>
          <a:prstGeom prst="line">
            <a:avLst/>
          </a:prstGeom>
          <a:noFill/>
          <a:ln w="19050">
            <a:solidFill>
              <a:srgbClr val="E1E7F2"/>
            </a:solidFill>
            <a:prstDash val="solid"/>
          </a:ln>
        </p:spPr>
        <p:txBody>
          <a:bodyPr/>
          <a:lstStyle/>
          <a:p>
            <a:endParaRPr lang="en-US"/>
          </a:p>
        </p:txBody>
      </p:sp>
      <p:sp>
        <p:nvSpPr>
          <p:cNvPr id="6" name="Text 3"/>
          <p:cNvSpPr/>
          <p:nvPr/>
        </p:nvSpPr>
        <p:spPr>
          <a:xfrm>
            <a:off x="548640" y="1600200"/>
            <a:ext cx="11094415" cy="4480560"/>
          </a:xfrm>
          <a:prstGeom prst="rect">
            <a:avLst/>
          </a:prstGeom>
          <a:noFill/>
          <a:ln/>
        </p:spPr>
        <p:txBody>
          <a:bodyPr wrap="square" rtlCol="0" anchor="t"/>
          <a:lstStyle/>
          <a:p>
            <a:pPr marL="228600" indent="-228600">
              <a:spcAft>
                <a:spcPts val="1400"/>
              </a:spcAft>
              <a:buSzPct val="100000"/>
              <a:buChar char="•"/>
            </a:pPr>
            <a:r>
              <a:rPr lang="en-US" sz="1500" dirty="0">
                <a:solidFill>
                  <a:srgbClr val="222834"/>
                </a:solidFill>
                <a:latin typeface="Calibri" pitchFamily="34" charset="0"/>
                <a:ea typeface="Calibri" pitchFamily="34" charset="-122"/>
                <a:cs typeface="Calibri" pitchFamily="34" charset="-120"/>
              </a:rPr>
              <a:t>claude: command not found after install → fully close and reopen the terminal to refresh PATH</a:t>
            </a:r>
            <a:endParaRPr lang="en-US" sz="1500" dirty="0"/>
          </a:p>
          <a:p>
            <a:pPr marL="228600" indent="-228600">
              <a:spcAft>
                <a:spcPts val="1400"/>
              </a:spcAft>
              <a:buSzPct val="100000"/>
              <a:buChar char="•"/>
            </a:pPr>
            <a:r>
              <a:rPr lang="en-US" sz="1500" dirty="0">
                <a:solidFill>
                  <a:srgbClr val="222834"/>
                </a:solidFill>
                <a:latin typeface="Calibri" pitchFamily="34" charset="0"/>
                <a:ea typeface="Calibri" pitchFamily="34" charset="-122"/>
                <a:cs typeface="Calibri" pitchFamily="34" charset="-120"/>
              </a:rPr>
              <a:t>npm install fails behind a corporate proxy → check with IT for rules blocking registry.npmjs.org or api.anthropic.com</a:t>
            </a:r>
            <a:endParaRPr lang="en-US" sz="1500" dirty="0"/>
          </a:p>
          <a:p>
            <a:pPr marL="228600" indent="-228600">
              <a:spcAft>
                <a:spcPts val="1400"/>
              </a:spcAft>
              <a:buSzPct val="100000"/>
              <a:buChar char="•"/>
            </a:pPr>
            <a:r>
              <a:rPr lang="en-US" sz="1500" dirty="0">
                <a:solidFill>
                  <a:srgbClr val="222834"/>
                </a:solidFill>
                <a:latin typeface="Calibri" pitchFamily="34" charset="0"/>
                <a:ea typeface="Calibri" pitchFamily="34" charset="-122"/>
                <a:cs typeface="Calibri" pitchFamily="34" charset="-120"/>
              </a:rPr>
              <a:t>Azure Repos not listed in Amplify's Git provider options → mirror/push to a supported remote, or use manual deploy for the workshop</a:t>
            </a:r>
            <a:endParaRPr lang="en-US" sz="1500" dirty="0"/>
          </a:p>
          <a:p>
            <a:pPr marL="228600" indent="-228600">
              <a:spcAft>
                <a:spcPts val="1400"/>
              </a:spcAft>
              <a:buSzPct val="100000"/>
              <a:buChar char="•"/>
            </a:pPr>
            <a:r>
              <a:rPr lang="en-US" sz="1500" dirty="0">
                <a:solidFill>
                  <a:srgbClr val="222834"/>
                </a:solidFill>
                <a:latin typeface="Calibri" pitchFamily="34" charset="0"/>
                <a:ea typeface="Calibri" pitchFamily="34" charset="-122"/>
                <a:cs typeface="Calibri" pitchFamily="34" charset="-120"/>
              </a:rPr>
              <a:t>aws configure credentials rejected → confirm the IAM user has Amplify plus supporting permissions (CloudFormation, S3) attached</a:t>
            </a:r>
            <a:endParaRPr lang="en-US" sz="1500" dirty="0"/>
          </a:p>
          <a:p>
            <a:pPr marL="228600" indent="-228600">
              <a:spcAft>
                <a:spcPts val="1400"/>
              </a:spcAft>
              <a:buSzPct val="100000"/>
              <a:buChar char="•"/>
            </a:pPr>
            <a:r>
              <a:rPr lang="en-US" sz="1500" dirty="0">
                <a:solidFill>
                  <a:srgbClr val="222834"/>
                </a:solidFill>
                <a:latin typeface="Calibri" pitchFamily="34" charset="0"/>
                <a:ea typeface="Calibri" pitchFamily="34" charset="-122"/>
                <a:cs typeface="Calibri" pitchFamily="34" charset="-120"/>
              </a:rPr>
              <a:t>winget not recognized on an older Windows build → update App Installer from the Microsoft Store, or install manually from the vendor site</a:t>
            </a:r>
            <a:endParaRPr lang="en-US" sz="1500" dirty="0"/>
          </a:p>
          <a:p>
            <a:pPr marL="228600" indent="-228600">
              <a:spcAft>
                <a:spcPts val="1400"/>
              </a:spcAft>
              <a:buSzPct val="100000"/>
              <a:buChar char="•"/>
            </a:pPr>
            <a:r>
              <a:rPr lang="en-US" sz="1500" dirty="0">
                <a:solidFill>
                  <a:srgbClr val="222834"/>
                </a:solidFill>
                <a:latin typeface="Calibri" pitchFamily="34" charset="0"/>
                <a:ea typeface="Calibri" pitchFamily="34" charset="-122"/>
                <a:cs typeface="Calibri" pitchFamily="34" charset="-120"/>
              </a:rPr>
              <a:t>Tests pass locally but fail in the pipeline → check the pipeline's NodeTool versionSpec matches the Node version engineers installed locally</a:t>
            </a:r>
            <a:endParaRPr lang="en-US" sz="1500" dirty="0"/>
          </a:p>
        </p:txBody>
      </p:sp>
      <p:sp>
        <p:nvSpPr>
          <p:cNvPr id="7" name="Text 4"/>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8" name="Text 5"/>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1C49"/>
          </a:solidFill>
          <a:ln w="12700">
            <a:solidFill>
              <a:srgbClr val="161C49"/>
            </a:solidFill>
            <a:prstDash val="solid"/>
          </a:ln>
        </p:spPr>
        <p:txBody>
          <a:bodyPr/>
          <a:lstStyle/>
          <a:p>
            <a:endParaRPr lang="en-US"/>
          </a:p>
        </p:txBody>
      </p:sp>
      <p:sp>
        <p:nvSpPr>
          <p:cNvPr id="3" name="Shape 1"/>
          <p:cNvSpPr/>
          <p:nvPr/>
        </p:nvSpPr>
        <p:spPr>
          <a:xfrm>
            <a:off x="-1828800" y="4389120"/>
            <a:ext cx="5029200" cy="5029200"/>
          </a:xfrm>
          <a:prstGeom prst="ellipse">
            <a:avLst/>
          </a:prstGeom>
          <a:solidFill>
            <a:srgbClr val="1E2761"/>
          </a:solidFill>
          <a:ln w="12700">
            <a:solidFill>
              <a:srgbClr val="1E2761"/>
            </a:solidFill>
            <a:prstDash val="solid"/>
          </a:ln>
        </p:spPr>
        <p:txBody>
          <a:bodyPr/>
          <a:lstStyle/>
          <a:p>
            <a:endParaRPr lang="en-US"/>
          </a:p>
        </p:txBody>
      </p:sp>
      <p:sp>
        <p:nvSpPr>
          <p:cNvPr id="4" name="Text 2"/>
          <p:cNvSpPr/>
          <p:nvPr/>
        </p:nvSpPr>
        <p:spPr>
          <a:xfrm>
            <a:off x="548640" y="2651760"/>
            <a:ext cx="9601200" cy="914400"/>
          </a:xfrm>
          <a:prstGeom prst="rect">
            <a:avLst/>
          </a:prstGeom>
          <a:noFill/>
          <a:ln/>
        </p:spPr>
        <p:txBody>
          <a:bodyPr wrap="square"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Let's Ship Something</a:t>
            </a:r>
            <a:endParaRPr lang="en-US" sz="3800" dirty="0"/>
          </a:p>
        </p:txBody>
      </p:sp>
      <p:sp>
        <p:nvSpPr>
          <p:cNvPr id="5" name="Text 3"/>
          <p:cNvSpPr/>
          <p:nvPr/>
        </p:nvSpPr>
        <p:spPr>
          <a:xfrm>
            <a:off x="548640" y="3520440"/>
            <a:ext cx="8686800" cy="54864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By the end of today: a live Amplify URL, real features, tests passing in CI, and a repeatable workflow your team owns.</a:t>
            </a:r>
            <a:endParaRPr lang="en-US" sz="1600" dirty="0"/>
          </a:p>
        </p:txBody>
      </p:sp>
      <p:sp>
        <p:nvSpPr>
          <p:cNvPr id="6" name="Text 4"/>
          <p:cNvSpPr/>
          <p:nvPr/>
        </p:nvSpPr>
        <p:spPr>
          <a:xfrm>
            <a:off x="548640" y="6473952"/>
            <a:ext cx="7315200" cy="274320"/>
          </a:xfrm>
          <a:prstGeom prst="rect">
            <a:avLst/>
          </a:prstGeom>
          <a:noFill/>
          <a:ln/>
        </p:spPr>
        <p:txBody>
          <a:bodyPr wrap="square" rtlCol="0" anchor="ctr"/>
          <a:lstStyle/>
          <a:p>
            <a:pPr marL="0" indent="0">
              <a:buNone/>
            </a:pPr>
            <a:r>
              <a:rPr lang="en-US" sz="1000" dirty="0">
                <a:solidFill>
                  <a:srgbClr val="6E7B91"/>
                </a:solidFill>
                <a:latin typeface="Calibri" pitchFamily="34" charset="0"/>
                <a:ea typeface="Calibri" pitchFamily="34" charset="-122"/>
                <a:cs typeface="Calibri" pitchFamily="34" charset="-120"/>
              </a:rPr>
              <a:t>Claude Code Workshop  •  Champion Motors</a:t>
            </a:r>
            <a:endParaRPr lang="en-US" sz="1000" dirty="0"/>
          </a:p>
        </p:txBody>
      </p:sp>
      <p:sp>
        <p:nvSpPr>
          <p:cNvPr id="7" name="Text 5"/>
          <p:cNvSpPr/>
          <p:nvPr/>
        </p:nvSpPr>
        <p:spPr>
          <a:xfrm>
            <a:off x="8899855" y="6473952"/>
            <a:ext cx="2743200" cy="274320"/>
          </a:xfrm>
          <a:prstGeom prst="rect">
            <a:avLst/>
          </a:prstGeom>
          <a:noFill/>
          <a:ln/>
        </p:spPr>
        <p:txBody>
          <a:bodyPr wrap="square" rtlCol="0" anchor="ctr"/>
          <a:lstStyle/>
          <a:p>
            <a:pPr marL="0" indent="0" algn="r">
              <a:buNone/>
            </a:pPr>
            <a:r>
              <a:rPr lang="en-US" sz="1000" dirty="0">
                <a:solidFill>
                  <a:srgbClr val="6E7B91"/>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970</TotalTime>
  <Words>3538</Words>
  <Application>Microsoft Office PowerPoint</Application>
  <PresentationFormat>Widescreen</PresentationFormat>
  <Paragraphs>349</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Gal Vekselman</cp:lastModifiedBy>
  <cp:revision>2</cp:revision>
  <dcterms:created xsi:type="dcterms:W3CDTF">2026-07-21T04:59:45Z</dcterms:created>
  <dcterms:modified xsi:type="dcterms:W3CDTF">2026-07-22T03:29:00Z</dcterms:modified>
</cp:coreProperties>
</file>